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Whoever opens (about 10 seconds): “Hi, we are [team name]. Our client is a crypto exchange that wants to catch fraudulent transactions before the money leaves. We built a Streamlit app for that.” Then hand over to the first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anyone, 10 seconds. “Introducing the dream team: Vadim, Spyros, Manos and Luca.” Each person can raise a hand or wave when their name is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[design person 1], about 1 minute. “Our client is a crypto exchange. The user is a fraud analyst who has to decide quickly whether a flagged transaction is fraud. We wrote down three questions the app has to answer [read them]. The machine learning goal is classification: fraud or clean.” CHECK: replace the three questions with the exact ones from your Requirements Document (1.3.1) if they are worded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[design person 2], about 1 minute. “This is how data moves through our system: the raw CSV, the SQL checks, the five features we kept, the saved KNN model, and finally the Streamlit app. These are our layout sketches. The app has two pages: Statistics, where you pick a feature and compare fraud with clean, and Fraud classification, where you type in a transaction and get a verdict plus the three most similar past transactions.” TIP: if you have a cleaner data flow diagram, swap the arrow row for a picture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Manos, about 1 minute. “We checked the data first. 400 transactions, 175 fraud and 225 clean. There were no missing values, and with SQL we checked every column for impossible values, like negative amounts or hours above 23. We found none. We did find outliers, but we kept them, because fraud is often unusual and the values were real. The clearest pattern was the verification stage: 55 percent of the unverified accounts were fraud, against 41 percent for basic and 38 percent for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[your friend’s name], about 1 minute. “At first we used SQL to compare the average of every column for fraud and clean transactions. The columns with a clear difference looked useful, so those were our candidates. Then we did backward elimination: we removed them one by one and checked the error. Balance change and the share of new addresses didn’t make the model better, so we dropped them. We kept five features. The model is KNN with k equals 3, and on 80 transactions it had never seen it is right 70 percent of the time, which is an MAE of 0.30.” If asked: for a 0/1 classifier the MAE is just the share of wrong answers, so 0.30 MAE = 30% wrong = 70%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[whoever built the pages], 2 to 3 minutes. Switch to the app (already running: streamlit run Statistics.py). 1. Statistics page: choose “amount”, point at the fraud mean vs the clean mean. Then choose “kyc_tier” and show the fraud rate table. 2. Fraud classification page, example that comes out FRAUD: amount 85.26, wallet age 58, seconds between transactions 536, standard deviation 1147, verification stage unverified. Submit, read the verdict, point at the 3 most similar past transactions. 3. Example that comes out NOT FRAUD: amount 196.97, wallet age 113, seconds between transactions 1060, standard deviation 931, verification stage full. Write these two examples on paper before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anyone, about 30 seconds. “Two of us did the requirements and the design, two of us did the data and the model, and at the end we put everything together in one Streamlit app. We learned that fewer, useful features work better than all of them. Our test set has only 80 transactions, so small differences are not very reliable; next time we would use cross-validation. We would also show a fraud probability and only ask for the fields the model really uses. Thank you,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D"/>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D1D1F"/>
                </a:solidFill>
                <a:latin typeface="Inter" pitchFamily="34" charset="0"/>
                <a:ea typeface="Inter" pitchFamily="34" charset="-122"/>
                <a:cs typeface="Inter"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520"/>
            <a:ext cx="10566400" cy="4424680"/>
          </a:xfrm>
          <a:prstGeom prst="rect">
            <a:avLst/>
          </a:prstGeom>
          <a:noFill/>
          <a:ln/>
        </p:spPr>
        <p:txBody>
          <a:bodyPr wrap="square" lIns="0" tIns="0" rIns="0" bIns="0" rtlCol="0" anchor="t"/>
          <a:lstStyle>
            <a:lvl1pPr algn="l" indent="0" marL="0">
              <a:lnSpc>
                <a:spcPct val="140000"/>
              </a:lnSpc>
              <a:buNone/>
              <a:defRPr lang="en-US" sz="1600" dirty="0">
                <a:solidFill>
                  <a:srgbClr val="1D1D1F"/>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D"/>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D1D1F"/>
                </a:solidFill>
                <a:latin typeface="Inter" pitchFamily="34" charset="0"/>
                <a:ea typeface="Inter" pitchFamily="34" charset="-122"/>
                <a:cs typeface="Inter"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520"/>
            <a:ext cx="10566400" cy="4424680"/>
          </a:xfrm>
          <a:prstGeom prst="rect">
            <a:avLst/>
          </a:prstGeom>
          <a:noFill/>
          <a:ln/>
        </p:spPr>
        <p:txBody>
          <a:bodyPr wrap="square" lIns="0" tIns="0" rIns="0" bIns="0" rtlCol="0" anchor="t"/>
          <a:lstStyle>
            <a:lvl1pPr algn="l" indent="0" marL="0">
              <a:lnSpc>
                <a:spcPct val="140000"/>
              </a:lnSpc>
              <a:buNone/>
              <a:defRPr lang="en-US" sz="1600" dirty="0">
                <a:solidFill>
                  <a:srgbClr val="1D1D1F"/>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812800" y="215201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71E3"/>
                </a:solidFill>
                <a:latin typeface="Inter" pitchFamily="34" charset="0"/>
                <a:ea typeface="Inter" pitchFamily="34" charset="-122"/>
                <a:cs typeface="Inter" pitchFamily="34" charset="-120"/>
              </a:rPr>
              <a:t>Information Diamond · Project</a:t>
            </a:r>
            <a:endParaRPr lang="en-US" sz="1600" dirty="0"/>
          </a:p>
        </p:txBody>
      </p:sp>
      <p:sp>
        <p:nvSpPr>
          <p:cNvPr id="3" name="Text 1"/>
          <p:cNvSpPr/>
          <p:nvPr>
            <p:ph type="title"/>
          </p:nvPr>
        </p:nvSpPr>
        <p:spPr>
          <a:xfrm>
            <a:off x="812800" y="2639695"/>
            <a:ext cx="10883392" cy="958850"/>
          </a:xfrm>
          <a:prstGeom prst="rect">
            <a:avLst/>
          </a:prstGeom>
          <a:noFill/>
          <a:ln/>
        </p:spPr>
        <p:txBody>
          <a:bodyPr wrap="square" lIns="0" tIns="0" rIns="0" bIns="0" rtlCol="0" anchor="t">
            <a:normAutofit/>
          </a:bodyPr>
          <a:lstStyle/>
          <a:p>
            <a:pPr algn="l" indent="0" marL="0">
              <a:lnSpc>
                <a:spcPts val="7350"/>
              </a:lnSpc>
              <a:buNone/>
            </a:pPr>
            <a:r>
              <a:rPr lang="en-US" sz="7000" b="1" i="0" spc="-200" kern="0" dirty="0">
                <a:solidFill>
                  <a:srgbClr val="1D1D1F"/>
                </a:solidFill>
                <a:latin typeface="Inter" pitchFamily="34" charset="0"/>
                <a:ea typeface="Inter" pitchFamily="34" charset="-122"/>
                <a:cs typeface="Inter" pitchFamily="34" charset="-120"/>
              </a:rPr>
              <a:t>Crypto Fraud </a:t>
            </a:r>
            <a:endParaRPr lang="en-US" sz="7000" dirty="0"/>
          </a:p>
        </p:txBody>
      </p:sp>
      <p:sp>
        <p:nvSpPr>
          <p:cNvPr id="4" name="Text 2"/>
          <p:cNvSpPr/>
          <p:nvPr/>
        </p:nvSpPr>
        <p:spPr>
          <a:xfrm>
            <a:off x="812800" y="3776345"/>
            <a:ext cx="8502650"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6E6E73"/>
                </a:solidFill>
                <a:latin typeface="Inter" pitchFamily="34" charset="0"/>
                <a:ea typeface="Inter" pitchFamily="34" charset="-122"/>
                <a:cs typeface="Inter" pitchFamily="34" charset="-120"/>
              </a:rPr>
              <a:t>Spotting fraudulent crypto transactions before they are released.</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812800" y="227965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71E3"/>
                </a:solidFill>
                <a:latin typeface="Inter" pitchFamily="34" charset="0"/>
                <a:ea typeface="Inter" pitchFamily="34" charset="-122"/>
                <a:cs typeface="Inter" pitchFamily="34" charset="-120"/>
              </a:rPr>
              <a:t>Introducing the dream team</a:t>
            </a:r>
            <a:endParaRPr lang="en-US" sz="1600" dirty="0"/>
          </a:p>
        </p:txBody>
      </p:sp>
      <p:sp>
        <p:nvSpPr>
          <p:cNvPr id="3" name="Text 1"/>
          <p:cNvSpPr/>
          <p:nvPr>
            <p:ph type="title"/>
          </p:nvPr>
        </p:nvSpPr>
        <p:spPr>
          <a:xfrm>
            <a:off x="812800" y="2691130"/>
            <a:ext cx="10883392" cy="958850"/>
          </a:xfrm>
          <a:prstGeom prst="rect">
            <a:avLst/>
          </a:prstGeom>
          <a:noFill/>
          <a:ln/>
        </p:spPr>
        <p:txBody>
          <a:bodyPr wrap="square" lIns="0" tIns="0" rIns="0" bIns="0" rtlCol="0" anchor="t">
            <a:normAutofit/>
          </a:bodyPr>
          <a:lstStyle/>
          <a:p>
            <a:pPr algn="l" indent="0" marL="0">
              <a:lnSpc>
                <a:spcPts val="7350"/>
              </a:lnSpc>
              <a:buNone/>
            </a:pPr>
            <a:r>
              <a:rPr lang="en-US" sz="7000" b="1" i="0" spc="-200" kern="0" dirty="0">
                <a:solidFill>
                  <a:srgbClr val="1D1D1F"/>
                </a:solidFill>
                <a:latin typeface="Inter" pitchFamily="34" charset="0"/>
                <a:ea typeface="Inter" pitchFamily="34" charset="-122"/>
                <a:cs typeface="Inter" pitchFamily="34" charset="-120"/>
              </a:rPr>
              <a:t>The Dream Team</a:t>
            </a:r>
            <a:endParaRPr lang="en-US" sz="7000" dirty="0"/>
          </a:p>
        </p:txBody>
      </p:sp>
      <p:sp>
        <p:nvSpPr>
          <p:cNvPr id="4" name="Text 2"/>
          <p:cNvSpPr/>
          <p:nvPr/>
        </p:nvSpPr>
        <p:spPr>
          <a:xfrm>
            <a:off x="772414" y="4082971"/>
            <a:ext cx="5369814" cy="523240"/>
          </a:xfrm>
          <a:prstGeom prst="rect">
            <a:avLst/>
          </a:prstGeom>
          <a:noFill/>
          <a:ln/>
        </p:spPr>
        <p:txBody>
          <a:bodyPr wrap="square" lIns="0" tIns="0" rIns="0" bIns="0" rtlCol="0" anchor="t">
            <a:normAutofit/>
          </a:bodyPr>
          <a:lstStyle/>
          <a:p>
            <a:pPr algn="l" marL="294386" indent="-294386">
              <a:lnSpc>
                <a:spcPts val="3920"/>
              </a:lnSpc>
              <a:buSzPct val="100000"/>
              <a:buChar char="•"/>
            </a:pPr>
            <a:r>
              <a:rPr lang="en-US" sz="2800" dirty="0">
                <a:solidFill>
                  <a:srgbClr val="1D1D1F"/>
                </a:solidFill>
                <a:latin typeface="Inter" pitchFamily="34" charset="0"/>
                <a:ea typeface="Inter" pitchFamily="34" charset="-122"/>
                <a:cs typeface="Inter" pitchFamily="34" charset="-120"/>
              </a:rPr>
              <a:t>Vadim</a:t>
            </a:r>
            <a:endParaRPr lang="en-US" sz="2800" dirty="0"/>
          </a:p>
        </p:txBody>
      </p:sp>
      <p:sp>
        <p:nvSpPr>
          <p:cNvPr id="5" name="Text 3"/>
          <p:cNvSpPr/>
          <p:nvPr/>
        </p:nvSpPr>
        <p:spPr>
          <a:xfrm>
            <a:off x="772414" y="4580890"/>
            <a:ext cx="2596642" cy="523240"/>
          </a:xfrm>
          <a:prstGeom prst="rect">
            <a:avLst/>
          </a:prstGeom>
          <a:noFill/>
          <a:ln/>
        </p:spPr>
        <p:txBody>
          <a:bodyPr wrap="square" lIns="0" tIns="0" rIns="0" bIns="0" rtlCol="0" anchor="t">
            <a:normAutofit/>
          </a:bodyPr>
          <a:lstStyle/>
          <a:p>
            <a:pPr algn="l" marL="294386" indent="-294386">
              <a:lnSpc>
                <a:spcPts val="3920"/>
              </a:lnSpc>
              <a:buSzPct val="100000"/>
              <a:buChar char="•"/>
            </a:pPr>
            <a:r>
              <a:rPr lang="en-US" sz="2800" dirty="0">
                <a:solidFill>
                  <a:srgbClr val="1D1D1F"/>
                </a:solidFill>
                <a:latin typeface="Inter" pitchFamily="34" charset="0"/>
                <a:ea typeface="Inter" pitchFamily="34" charset="-122"/>
                <a:cs typeface="Inter" pitchFamily="34" charset="-120"/>
              </a:rPr>
              <a:t>Spyros</a:t>
            </a:r>
            <a:endParaRPr lang="en-US" sz="2800" dirty="0"/>
          </a:p>
        </p:txBody>
      </p:sp>
      <p:sp>
        <p:nvSpPr>
          <p:cNvPr id="6" name="Text 4"/>
          <p:cNvSpPr/>
          <p:nvPr/>
        </p:nvSpPr>
        <p:spPr>
          <a:xfrm>
            <a:off x="772414" y="5078730"/>
            <a:ext cx="3525393" cy="523240"/>
          </a:xfrm>
          <a:prstGeom prst="rect">
            <a:avLst/>
          </a:prstGeom>
          <a:noFill/>
          <a:ln/>
        </p:spPr>
        <p:txBody>
          <a:bodyPr wrap="square" lIns="0" tIns="0" rIns="0" bIns="0" rtlCol="0" anchor="t">
            <a:normAutofit/>
          </a:bodyPr>
          <a:lstStyle/>
          <a:p>
            <a:pPr algn="l" marL="294386" indent="-294386">
              <a:lnSpc>
                <a:spcPts val="3920"/>
              </a:lnSpc>
              <a:buSzPct val="100000"/>
              <a:buChar char="•"/>
            </a:pPr>
            <a:r>
              <a:rPr lang="en-US" sz="2800" dirty="0">
                <a:solidFill>
                  <a:srgbClr val="1D1D1F"/>
                </a:solidFill>
                <a:latin typeface="Inter" pitchFamily="34" charset="0"/>
                <a:ea typeface="Inter" pitchFamily="34" charset="-122"/>
                <a:cs typeface="Inter" pitchFamily="34" charset="-120"/>
              </a:rPr>
              <a:t>Manos</a:t>
            </a:r>
            <a:endParaRPr lang="en-US" sz="2800" dirty="0"/>
          </a:p>
        </p:txBody>
      </p:sp>
      <p:sp>
        <p:nvSpPr>
          <p:cNvPr id="7" name="Text 5"/>
          <p:cNvSpPr/>
          <p:nvPr/>
        </p:nvSpPr>
        <p:spPr>
          <a:xfrm>
            <a:off x="772414" y="5576570"/>
            <a:ext cx="5369814" cy="523240"/>
          </a:xfrm>
          <a:prstGeom prst="rect">
            <a:avLst/>
          </a:prstGeom>
          <a:noFill/>
          <a:ln/>
        </p:spPr>
        <p:txBody>
          <a:bodyPr wrap="square" lIns="0" tIns="0" rIns="0" bIns="0" rtlCol="0" anchor="t">
            <a:normAutofit/>
          </a:bodyPr>
          <a:lstStyle/>
          <a:p>
            <a:pPr algn="l" marL="294386" indent="-294386">
              <a:lnSpc>
                <a:spcPts val="3920"/>
              </a:lnSpc>
              <a:buSzPct val="100000"/>
              <a:buChar char="•"/>
            </a:pPr>
            <a:r>
              <a:rPr lang="en-US" sz="2800" dirty="0">
                <a:solidFill>
                  <a:srgbClr val="1D1D1F"/>
                </a:solidFill>
                <a:latin typeface="Inter" pitchFamily="34" charset="0"/>
                <a:ea typeface="Inter" pitchFamily="34" charset="-122"/>
                <a:cs typeface="Inter" pitchFamily="34" charset="-120"/>
              </a:rPr>
              <a:t>Luca</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spc="-100" kern="0" dirty="0">
                <a:solidFill>
                  <a:srgbClr val="1D1D1F"/>
                </a:solidFill>
                <a:latin typeface="Inter" pitchFamily="34" charset="0"/>
                <a:ea typeface="Inter" pitchFamily="34" charset="-122"/>
                <a:cs typeface="Inter" pitchFamily="34" charset="-120"/>
              </a:rPr>
              <a:t>The client and their questions</a:t>
            </a:r>
            <a:endParaRPr lang="en-US" sz="3600" dirty="0"/>
          </a:p>
        </p:txBody>
      </p:sp>
      <p:sp>
        <p:nvSpPr>
          <p:cNvPr id="3" name="Text 1"/>
          <p:cNvSpPr/>
          <p:nvPr/>
        </p:nvSpPr>
        <p:spPr>
          <a:xfrm>
            <a:off x="812800" y="1722120"/>
            <a:ext cx="36626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E6E73"/>
                </a:solidFill>
                <a:latin typeface="Inter" pitchFamily="34" charset="0"/>
                <a:ea typeface="Inter" pitchFamily="34" charset="-122"/>
                <a:cs typeface="Inter" pitchFamily="34" charset="-120"/>
              </a:rPr>
              <a:t>USER</a:t>
            </a:r>
            <a:endParaRPr lang="en-US" sz="1200" dirty="0"/>
          </a:p>
        </p:txBody>
      </p:sp>
      <p:sp>
        <p:nvSpPr>
          <p:cNvPr id="4" name="Text 2"/>
          <p:cNvSpPr/>
          <p:nvPr/>
        </p:nvSpPr>
        <p:spPr>
          <a:xfrm>
            <a:off x="812800" y="1986280"/>
            <a:ext cx="3662680"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1D1D1F"/>
                </a:solidFill>
                <a:latin typeface="Inter" pitchFamily="34" charset="0"/>
                <a:ea typeface="Inter" pitchFamily="34" charset="-122"/>
                <a:cs typeface="Inter" pitchFamily="34" charset="-120"/>
              </a:rPr>
              <a:t>A fraud analyst at a crypto exchange</a:t>
            </a:r>
            <a:endParaRPr lang="en-US" sz="2000" dirty="0"/>
          </a:p>
        </p:txBody>
      </p:sp>
      <p:sp>
        <p:nvSpPr>
          <p:cNvPr id="5" name="Text 3"/>
          <p:cNvSpPr/>
          <p:nvPr/>
        </p:nvSpPr>
        <p:spPr>
          <a:xfrm>
            <a:off x="812800" y="2875280"/>
            <a:ext cx="36626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E6E73"/>
                </a:solidFill>
                <a:latin typeface="Inter" pitchFamily="34" charset="0"/>
                <a:ea typeface="Inter" pitchFamily="34" charset="-122"/>
                <a:cs typeface="Inter" pitchFamily="34" charset="-120"/>
              </a:rPr>
              <a:t>GOAL</a:t>
            </a:r>
            <a:endParaRPr lang="en-US" sz="1200" dirty="0"/>
          </a:p>
        </p:txBody>
      </p:sp>
      <p:sp>
        <p:nvSpPr>
          <p:cNvPr id="6" name="Text 4"/>
          <p:cNvSpPr/>
          <p:nvPr/>
        </p:nvSpPr>
        <p:spPr>
          <a:xfrm>
            <a:off x="812800" y="3139441"/>
            <a:ext cx="3962400"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1D1D1F"/>
                </a:solidFill>
                <a:latin typeface="Inter" pitchFamily="34" charset="0"/>
                <a:ea typeface="Inter" pitchFamily="34" charset="-122"/>
                <a:cs typeface="Inter" pitchFamily="34" charset="-120"/>
              </a:rPr>
              <a:t>Classification: fraud or clean</a:t>
            </a:r>
            <a:endParaRPr lang="en-US" sz="2000" dirty="0"/>
          </a:p>
        </p:txBody>
      </p:sp>
      <p:sp>
        <p:nvSpPr>
          <p:cNvPr id="7" name="Text 5"/>
          <p:cNvSpPr/>
          <p:nvPr/>
        </p:nvSpPr>
        <p:spPr>
          <a:xfrm>
            <a:off x="812800" y="3710941"/>
            <a:ext cx="366268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E6E73"/>
                </a:solidFill>
                <a:latin typeface="Inter" pitchFamily="34" charset="0"/>
                <a:ea typeface="Inter" pitchFamily="34" charset="-122"/>
                <a:cs typeface="Inter" pitchFamily="34" charset="-120"/>
              </a:rPr>
              <a:t>DATA</a:t>
            </a:r>
            <a:endParaRPr lang="en-US" sz="1200" dirty="0"/>
          </a:p>
        </p:txBody>
      </p:sp>
      <p:sp>
        <p:nvSpPr>
          <p:cNvPr id="8" name="Text 6"/>
          <p:cNvSpPr/>
          <p:nvPr/>
        </p:nvSpPr>
        <p:spPr>
          <a:xfrm>
            <a:off x="812800" y="3975100"/>
            <a:ext cx="3662680"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1D1D1F"/>
                </a:solidFill>
                <a:latin typeface="Inter" pitchFamily="34" charset="0"/>
                <a:ea typeface="Inter" pitchFamily="34" charset="-122"/>
                <a:cs typeface="Inter" pitchFamily="34" charset="-120"/>
              </a:rPr>
              <a:t>400 flagged transactions, 16 features</a:t>
            </a:r>
            <a:endParaRPr lang="en-US" sz="2000" dirty="0"/>
          </a:p>
        </p:txBody>
      </p:sp>
      <p:sp>
        <p:nvSpPr>
          <p:cNvPr id="9" name="Shape 7"/>
          <p:cNvSpPr/>
          <p:nvPr/>
        </p:nvSpPr>
        <p:spPr>
          <a:xfrm>
            <a:off x="4778375" y="1725295"/>
            <a:ext cx="6597650" cy="971550"/>
          </a:xfrm>
          <a:prstGeom prst="roundRect">
            <a:avLst>
              <a:gd name="adj" fmla="val 15359"/>
            </a:avLst>
          </a:prstGeom>
          <a:solidFill>
            <a:srgbClr val="FFFFFF"/>
          </a:solidFill>
          <a:ln w="6350">
            <a:solidFill>
              <a:srgbClr val="E5E5EA"/>
            </a:solidFill>
            <a:prstDash val="solid"/>
          </a:ln>
        </p:spPr>
      </p:sp>
      <p:sp>
        <p:nvSpPr>
          <p:cNvPr id="10" name="Text 8"/>
          <p:cNvSpPr/>
          <p:nvPr/>
        </p:nvSpPr>
        <p:spPr>
          <a:xfrm>
            <a:off x="5034280" y="1997711"/>
            <a:ext cx="176371"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0071E3"/>
                </a:solidFill>
                <a:latin typeface="Inter" pitchFamily="34" charset="0"/>
                <a:ea typeface="Inter" pitchFamily="34" charset="-122"/>
                <a:cs typeface="Inter" pitchFamily="34" charset="-120"/>
              </a:rPr>
              <a:t>1</a:t>
            </a:r>
            <a:endParaRPr lang="en-US" sz="2400" dirty="0"/>
          </a:p>
        </p:txBody>
      </p:sp>
      <p:sp>
        <p:nvSpPr>
          <p:cNvPr id="11" name="Text 9"/>
          <p:cNvSpPr/>
          <p:nvPr/>
        </p:nvSpPr>
        <p:spPr>
          <a:xfrm>
            <a:off x="5337651" y="1930400"/>
            <a:ext cx="5955943" cy="58674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D1D1F"/>
                </a:solidFill>
                <a:latin typeface="Inter" pitchFamily="34" charset="0"/>
                <a:ea typeface="Inter" pitchFamily="34" charset="-122"/>
                <a:cs typeface="Inter" pitchFamily="34" charset="-120"/>
              </a:rPr>
              <a:t>Which transaction features differ between fraud and clean?</a:t>
            </a:r>
            <a:endParaRPr lang="en-US" sz="1700" dirty="0"/>
          </a:p>
        </p:txBody>
      </p:sp>
      <p:sp>
        <p:nvSpPr>
          <p:cNvPr id="12" name="Shape 10"/>
          <p:cNvSpPr/>
          <p:nvPr/>
        </p:nvSpPr>
        <p:spPr>
          <a:xfrm>
            <a:off x="4778375" y="2855595"/>
            <a:ext cx="6597650" cy="836930"/>
          </a:xfrm>
          <a:prstGeom prst="roundRect">
            <a:avLst>
              <a:gd name="adj" fmla="val 17830"/>
            </a:avLst>
          </a:prstGeom>
          <a:solidFill>
            <a:srgbClr val="FFFFFF"/>
          </a:solidFill>
          <a:ln w="6350">
            <a:solidFill>
              <a:srgbClr val="E5E5EA"/>
            </a:solidFill>
            <a:prstDash val="solid"/>
          </a:ln>
        </p:spPr>
      </p:sp>
      <p:sp>
        <p:nvSpPr>
          <p:cNvPr id="13" name="Text 11"/>
          <p:cNvSpPr/>
          <p:nvPr/>
        </p:nvSpPr>
        <p:spPr>
          <a:xfrm>
            <a:off x="5034280" y="3060700"/>
            <a:ext cx="242808"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0071E3"/>
                </a:solidFill>
                <a:latin typeface="Inter" pitchFamily="34" charset="0"/>
                <a:ea typeface="Inter" pitchFamily="34" charset="-122"/>
                <a:cs typeface="Inter" pitchFamily="34" charset="-120"/>
              </a:rPr>
              <a:t>2</a:t>
            </a:r>
            <a:endParaRPr lang="en-US" sz="2400" dirty="0"/>
          </a:p>
        </p:txBody>
      </p:sp>
      <p:sp>
        <p:nvSpPr>
          <p:cNvPr id="14" name="Text 12"/>
          <p:cNvSpPr/>
          <p:nvPr/>
        </p:nvSpPr>
        <p:spPr>
          <a:xfrm>
            <a:off x="5404088" y="3133725"/>
            <a:ext cx="5968762" cy="30607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D1D1F"/>
                </a:solidFill>
                <a:latin typeface="Inter" pitchFamily="34" charset="0"/>
                <a:ea typeface="Inter" pitchFamily="34" charset="-122"/>
                <a:cs typeface="Inter" pitchFamily="34" charset="-120"/>
              </a:rPr>
              <a:t>Which account verification level has the most fraud?</a:t>
            </a:r>
            <a:endParaRPr lang="en-US" sz="1700" dirty="0"/>
          </a:p>
        </p:txBody>
      </p:sp>
      <p:sp>
        <p:nvSpPr>
          <p:cNvPr id="15" name="Shape 13"/>
          <p:cNvSpPr/>
          <p:nvPr/>
        </p:nvSpPr>
        <p:spPr>
          <a:xfrm>
            <a:off x="4778375" y="3851275"/>
            <a:ext cx="6597650" cy="971550"/>
          </a:xfrm>
          <a:prstGeom prst="roundRect">
            <a:avLst>
              <a:gd name="adj" fmla="val 15359"/>
            </a:avLst>
          </a:prstGeom>
          <a:solidFill>
            <a:srgbClr val="FFFFFF"/>
          </a:solidFill>
          <a:ln w="6350">
            <a:solidFill>
              <a:srgbClr val="E5E5EA"/>
            </a:solidFill>
            <a:prstDash val="solid"/>
          </a:ln>
        </p:spPr>
      </p:sp>
      <p:sp>
        <p:nvSpPr>
          <p:cNvPr id="16" name="Text 14"/>
          <p:cNvSpPr/>
          <p:nvPr/>
        </p:nvSpPr>
        <p:spPr>
          <a:xfrm>
            <a:off x="5034280" y="4123691"/>
            <a:ext cx="189151"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0071E3"/>
                </a:solidFill>
                <a:latin typeface="Inter" pitchFamily="34" charset="0"/>
                <a:ea typeface="Inter" pitchFamily="34" charset="-122"/>
                <a:cs typeface="Inter" pitchFamily="34" charset="-120"/>
              </a:rPr>
              <a:t>3</a:t>
            </a:r>
            <a:endParaRPr lang="en-US" sz="2400" dirty="0"/>
          </a:p>
        </p:txBody>
      </p:sp>
      <p:sp>
        <p:nvSpPr>
          <p:cNvPr id="17" name="Text 15"/>
          <p:cNvSpPr/>
          <p:nvPr/>
        </p:nvSpPr>
        <p:spPr>
          <a:xfrm>
            <a:off x="5350431" y="4056380"/>
            <a:ext cx="5942780" cy="58674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D1D1F"/>
                </a:solidFill>
                <a:latin typeface="Inter" pitchFamily="34" charset="0"/>
                <a:ea typeface="Inter" pitchFamily="34" charset="-122"/>
                <a:cs typeface="Inter" pitchFamily="34" charset="-120"/>
              </a:rPr>
              <a:t>Is this new transaction likely fraud, and which past transactions does it look like?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spc="-100" kern="0" dirty="0">
                <a:solidFill>
                  <a:srgbClr val="1D1D1F"/>
                </a:solidFill>
                <a:latin typeface="Inter" pitchFamily="34" charset="0"/>
                <a:ea typeface="Inter" pitchFamily="34" charset="-122"/>
                <a:cs typeface="Inter" pitchFamily="34" charset="-120"/>
              </a:rPr>
              <a:t>How the app is built</a:t>
            </a:r>
            <a:endParaRPr lang="en-US" sz="3600" dirty="0"/>
          </a:p>
        </p:txBody>
      </p:sp>
      <p:sp>
        <p:nvSpPr>
          <p:cNvPr id="3" name="Text 1"/>
          <p:cNvSpPr/>
          <p:nvPr/>
        </p:nvSpPr>
        <p:spPr>
          <a:xfrm>
            <a:off x="812800" y="1634491"/>
            <a:ext cx="1788160" cy="535940"/>
          </a:xfrm>
          <a:prstGeom prst="roundRect">
            <a:avLst>
              <a:gd name="adj" fmla="val 18957"/>
            </a:avLst>
          </a:prstGeom>
          <a:solidFill>
            <a:srgbClr val="F5F5F7"/>
          </a:solidFill>
          <a:ln/>
        </p:spPr>
        <p:txBody>
          <a:bodyPr wrap="square" lIns="46442" tIns="122642" rIns="46442" bIns="97242" rtlCol="0" anchor="t">
            <a:normAutofit/>
          </a:bodyPr>
          <a:lstStyle/>
          <a:p>
            <a:pPr algn="ctr" indent="0" marL="0">
              <a:lnSpc>
                <a:spcPts val="1820"/>
              </a:lnSpc>
              <a:buNone/>
            </a:pPr>
            <a:r>
              <a:rPr lang="en-US" sz="1300" b="1" dirty="0">
                <a:solidFill>
                  <a:srgbClr val="1D1D1F"/>
                </a:solidFill>
                <a:latin typeface="Inter" pitchFamily="34" charset="0"/>
                <a:ea typeface="Inter" pitchFamily="34" charset="-122"/>
                <a:cs typeface="Inter" pitchFamily="34" charset="-120"/>
              </a:rPr>
              <a:t>data-5.csv</a:t>
            </a:r>
            <a:endParaRPr lang="en-US" sz="1300" dirty="0"/>
          </a:p>
        </p:txBody>
      </p:sp>
      <p:sp>
        <p:nvSpPr>
          <p:cNvPr id="4" name="Text 2"/>
          <p:cNvSpPr/>
          <p:nvPr/>
        </p:nvSpPr>
        <p:spPr>
          <a:xfrm>
            <a:off x="2702560" y="1760220"/>
            <a:ext cx="2540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71E3"/>
                </a:solidFill>
                <a:latin typeface="Inter" pitchFamily="34" charset="0"/>
                <a:ea typeface="Inter" pitchFamily="34" charset="-122"/>
                <a:cs typeface="Inter" pitchFamily="34" charset="-120"/>
              </a:rPr>
              <a:t>→</a:t>
            </a:r>
            <a:endParaRPr lang="en-US" sz="1600" dirty="0"/>
          </a:p>
        </p:txBody>
      </p:sp>
      <p:sp>
        <p:nvSpPr>
          <p:cNvPr id="5" name="Text 3"/>
          <p:cNvSpPr/>
          <p:nvPr/>
        </p:nvSpPr>
        <p:spPr>
          <a:xfrm>
            <a:off x="3007360" y="1518920"/>
            <a:ext cx="1788160" cy="767080"/>
          </a:xfrm>
          <a:prstGeom prst="roundRect">
            <a:avLst>
              <a:gd name="adj" fmla="val 13245"/>
            </a:avLst>
          </a:prstGeom>
          <a:solidFill>
            <a:srgbClr val="F5F5F7"/>
          </a:solidFill>
          <a:ln/>
        </p:spPr>
        <p:txBody>
          <a:bodyPr wrap="square" lIns="46442" tIns="122642" rIns="46442" bIns="97242" rtlCol="0" anchor="t">
            <a:normAutofit/>
          </a:bodyPr>
          <a:lstStyle/>
          <a:p>
            <a:pPr algn="ctr" indent="0" marL="0">
              <a:lnSpc>
                <a:spcPts val="1820"/>
              </a:lnSpc>
              <a:buNone/>
            </a:pPr>
            <a:r>
              <a:rPr lang="en-US" sz="1300" b="1" dirty="0">
                <a:solidFill>
                  <a:srgbClr val="1D1D1F"/>
                </a:solidFill>
                <a:latin typeface="Inter" pitchFamily="34" charset="0"/>
                <a:ea typeface="Inter" pitchFamily="34" charset="-122"/>
                <a:cs typeface="Inter" pitchFamily="34" charset="-120"/>
              </a:rPr>
              <a:t>SQL checks and cleaning</a:t>
            </a:r>
            <a:endParaRPr lang="en-US" sz="1300" dirty="0"/>
          </a:p>
        </p:txBody>
      </p:sp>
      <p:sp>
        <p:nvSpPr>
          <p:cNvPr id="6" name="Text 4"/>
          <p:cNvSpPr/>
          <p:nvPr/>
        </p:nvSpPr>
        <p:spPr>
          <a:xfrm>
            <a:off x="4897120" y="1760220"/>
            <a:ext cx="2540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71E3"/>
                </a:solidFill>
                <a:latin typeface="Inter" pitchFamily="34" charset="0"/>
                <a:ea typeface="Inter" pitchFamily="34" charset="-122"/>
                <a:cs typeface="Inter" pitchFamily="34" charset="-120"/>
              </a:rPr>
              <a:t>→</a:t>
            </a:r>
            <a:endParaRPr lang="en-US" sz="1600" dirty="0"/>
          </a:p>
        </p:txBody>
      </p:sp>
      <p:sp>
        <p:nvSpPr>
          <p:cNvPr id="7" name="Text 5"/>
          <p:cNvSpPr/>
          <p:nvPr/>
        </p:nvSpPr>
        <p:spPr>
          <a:xfrm>
            <a:off x="5201920" y="1634491"/>
            <a:ext cx="1788160" cy="535940"/>
          </a:xfrm>
          <a:prstGeom prst="roundRect">
            <a:avLst>
              <a:gd name="adj" fmla="val 18957"/>
            </a:avLst>
          </a:prstGeom>
          <a:solidFill>
            <a:srgbClr val="F5F5F7"/>
          </a:solidFill>
          <a:ln/>
        </p:spPr>
        <p:txBody>
          <a:bodyPr wrap="square" lIns="46442" tIns="122642" rIns="46442" bIns="97242" rtlCol="0" anchor="t">
            <a:normAutofit/>
          </a:bodyPr>
          <a:lstStyle/>
          <a:p>
            <a:pPr algn="ctr" indent="0" marL="0">
              <a:lnSpc>
                <a:spcPts val="1820"/>
              </a:lnSpc>
              <a:buNone/>
            </a:pPr>
            <a:r>
              <a:rPr lang="en-US" sz="1300" b="1" dirty="0">
                <a:solidFill>
                  <a:srgbClr val="1D1D1F"/>
                </a:solidFill>
                <a:latin typeface="Inter" pitchFamily="34" charset="0"/>
                <a:ea typeface="Inter" pitchFamily="34" charset="-122"/>
                <a:cs typeface="Inter" pitchFamily="34" charset="-120"/>
              </a:rPr>
              <a:t>5 features, scaled</a:t>
            </a:r>
            <a:endParaRPr lang="en-US" sz="1300" dirty="0"/>
          </a:p>
        </p:txBody>
      </p:sp>
      <p:sp>
        <p:nvSpPr>
          <p:cNvPr id="8" name="Text 6"/>
          <p:cNvSpPr/>
          <p:nvPr/>
        </p:nvSpPr>
        <p:spPr>
          <a:xfrm>
            <a:off x="7091680" y="1760220"/>
            <a:ext cx="2540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71E3"/>
                </a:solidFill>
                <a:latin typeface="Inter" pitchFamily="34" charset="0"/>
                <a:ea typeface="Inter" pitchFamily="34" charset="-122"/>
                <a:cs typeface="Inter" pitchFamily="34" charset="-120"/>
              </a:rPr>
              <a:t>→</a:t>
            </a:r>
            <a:endParaRPr lang="en-US" sz="1600" dirty="0"/>
          </a:p>
        </p:txBody>
      </p:sp>
      <p:sp>
        <p:nvSpPr>
          <p:cNvPr id="9" name="Text 7"/>
          <p:cNvSpPr/>
          <p:nvPr/>
        </p:nvSpPr>
        <p:spPr>
          <a:xfrm>
            <a:off x="7396480" y="1634491"/>
            <a:ext cx="1788160" cy="535940"/>
          </a:xfrm>
          <a:prstGeom prst="roundRect">
            <a:avLst>
              <a:gd name="adj" fmla="val 18957"/>
            </a:avLst>
          </a:prstGeom>
          <a:solidFill>
            <a:srgbClr val="F5F5F7"/>
          </a:solidFill>
          <a:ln/>
        </p:spPr>
        <p:txBody>
          <a:bodyPr wrap="square" lIns="46442" tIns="122642" rIns="46442" bIns="97242" rtlCol="0" anchor="t">
            <a:normAutofit/>
          </a:bodyPr>
          <a:lstStyle/>
          <a:p>
            <a:pPr algn="ctr" indent="0" marL="0">
              <a:lnSpc>
                <a:spcPts val="1820"/>
              </a:lnSpc>
              <a:buNone/>
            </a:pPr>
            <a:r>
              <a:rPr lang="en-US" sz="1300" b="1" dirty="0">
                <a:solidFill>
                  <a:srgbClr val="1D1D1F"/>
                </a:solidFill>
                <a:latin typeface="Inter" pitchFamily="34" charset="0"/>
                <a:ea typeface="Inter" pitchFamily="34" charset="-122"/>
                <a:cs typeface="Inter" pitchFamily="34" charset="-120"/>
              </a:rPr>
              <a:t>KNN, k = 3, saved</a:t>
            </a:r>
            <a:endParaRPr lang="en-US" sz="1300" dirty="0"/>
          </a:p>
        </p:txBody>
      </p:sp>
      <p:sp>
        <p:nvSpPr>
          <p:cNvPr id="10" name="Text 8"/>
          <p:cNvSpPr/>
          <p:nvPr/>
        </p:nvSpPr>
        <p:spPr>
          <a:xfrm>
            <a:off x="9286240" y="1760220"/>
            <a:ext cx="2540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71E3"/>
                </a:solidFill>
                <a:latin typeface="Inter" pitchFamily="34" charset="0"/>
                <a:ea typeface="Inter" pitchFamily="34" charset="-122"/>
                <a:cs typeface="Inter" pitchFamily="34" charset="-120"/>
              </a:rPr>
              <a:t>→</a:t>
            </a:r>
            <a:endParaRPr lang="en-US" sz="1600" dirty="0"/>
          </a:p>
        </p:txBody>
      </p:sp>
      <p:sp>
        <p:nvSpPr>
          <p:cNvPr id="11" name="Text 9"/>
          <p:cNvSpPr/>
          <p:nvPr/>
        </p:nvSpPr>
        <p:spPr>
          <a:xfrm>
            <a:off x="9591040" y="1634491"/>
            <a:ext cx="1788160" cy="535940"/>
          </a:xfrm>
          <a:prstGeom prst="roundRect">
            <a:avLst>
              <a:gd name="adj" fmla="val 18957"/>
            </a:avLst>
          </a:prstGeom>
          <a:solidFill>
            <a:srgbClr val="0071E3"/>
          </a:solidFill>
          <a:ln/>
        </p:spPr>
        <p:txBody>
          <a:bodyPr wrap="square" lIns="46442" tIns="122642" rIns="46442" bIns="97242" rtlCol="0" anchor="t">
            <a:normAutofit/>
          </a:bodyPr>
          <a:lstStyle/>
          <a:p>
            <a:pPr algn="ctr" indent="0" marL="0">
              <a:lnSpc>
                <a:spcPts val="1820"/>
              </a:lnSpc>
              <a:buNone/>
            </a:pPr>
            <a:r>
              <a:rPr lang="en-US" sz="1300" b="1" dirty="0">
                <a:solidFill>
                  <a:srgbClr val="FFFFFF"/>
                </a:solidFill>
                <a:latin typeface="Inter" pitchFamily="34" charset="0"/>
                <a:ea typeface="Inter" pitchFamily="34" charset="-122"/>
                <a:cs typeface="Inter" pitchFamily="34" charset="-120"/>
              </a:rPr>
              <a:t>Streamlit app</a:t>
            </a:r>
            <a:endParaRPr lang="en-US" sz="1300" dirty="0"/>
          </a:p>
        </p:txBody>
      </p:sp>
      <p:sp>
        <p:nvSpPr>
          <p:cNvPr id="12" name="Shape 10"/>
          <p:cNvSpPr/>
          <p:nvPr/>
        </p:nvSpPr>
        <p:spPr>
          <a:xfrm>
            <a:off x="812800" y="2489200"/>
            <a:ext cx="5181600" cy="2984500"/>
          </a:xfrm>
          <a:prstGeom prst="roundRect">
            <a:avLst>
              <a:gd name="adj" fmla="val 3404"/>
            </a:avLst>
          </a:prstGeom>
          <a:solidFill>
            <a:srgbClr val="FFFFFF"/>
          </a:solidFill>
          <a:ln/>
        </p:spPr>
      </p:sp>
      <p:pic>
        <p:nvPicPr>
          <p:cNvPr id="13" name="Image 0" descr="Hand-drawn sketch of the Statistics page: a feature dropdown and mean, median, quartiles, min and max for fraud, clean and mixed">    </p:cNvPr>
          <p:cNvPicPr>
            <a:picLocks noChangeAspect="1"/>
          </p:cNvPicPr>
          <p:nvPr/>
        </p:nvPicPr>
        <p:blipFill>
          <a:blip r:embed="rId1"/>
          <a:stretch>
            <a:fillRect/>
          </a:stretch>
        </p:blipFill>
        <p:spPr>
          <a:xfrm>
            <a:off x="1280886" y="2495550"/>
            <a:ext cx="4245429" cy="2971800"/>
          </a:xfrm>
          <a:prstGeom prst="rect">
            <a:avLst/>
          </a:prstGeom>
        </p:spPr>
      </p:pic>
      <p:sp>
        <p:nvSpPr>
          <p:cNvPr id="14" name="Shape 11"/>
          <p:cNvSpPr/>
          <p:nvPr/>
        </p:nvSpPr>
        <p:spPr>
          <a:xfrm>
            <a:off x="815975" y="2492375"/>
            <a:ext cx="5175250" cy="2978150"/>
          </a:xfrm>
          <a:prstGeom prst="roundRect">
            <a:avLst>
              <a:gd name="adj" fmla="val 3305"/>
            </a:avLst>
          </a:prstGeom>
          <a:noFill/>
          <a:ln w="6350">
            <a:solidFill>
              <a:srgbClr val="E5E5EA"/>
            </a:solidFill>
            <a:prstDash val="solid"/>
          </a:ln>
        </p:spPr>
      </p:sp>
      <p:sp>
        <p:nvSpPr>
          <p:cNvPr id="15" name="Text 12"/>
          <p:cNvSpPr/>
          <p:nvPr/>
        </p:nvSpPr>
        <p:spPr>
          <a:xfrm>
            <a:off x="812800" y="5549900"/>
            <a:ext cx="533704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E6E73"/>
                </a:solidFill>
                <a:latin typeface="Inter" pitchFamily="34" charset="0"/>
                <a:ea typeface="Inter" pitchFamily="34" charset="-122"/>
                <a:cs typeface="Inter" pitchFamily="34" charset="-120"/>
              </a:rPr>
              <a:t>Statistics page: pick a feature, compare fraud and clean</a:t>
            </a:r>
            <a:endParaRPr lang="en-US" sz="1300" dirty="0"/>
          </a:p>
        </p:txBody>
      </p:sp>
      <p:sp>
        <p:nvSpPr>
          <p:cNvPr id="16" name="Shape 13"/>
          <p:cNvSpPr/>
          <p:nvPr/>
        </p:nvSpPr>
        <p:spPr>
          <a:xfrm>
            <a:off x="6197600" y="2489200"/>
            <a:ext cx="5181600" cy="2984500"/>
          </a:xfrm>
          <a:prstGeom prst="roundRect">
            <a:avLst>
              <a:gd name="adj" fmla="val 3404"/>
            </a:avLst>
          </a:prstGeom>
          <a:solidFill>
            <a:srgbClr val="FFFFFF"/>
          </a:solidFill>
          <a:ln/>
        </p:spPr>
      </p:sp>
      <p:pic>
        <p:nvPicPr>
          <p:cNvPr id="17" name="Image 1" descr="Hand-drawn sketch of the Fraud classification page: mandatory and optional inputs, a submit button, the verdict and the 3 closest transactions">    </p:cNvPr>
          <p:cNvPicPr>
            <a:picLocks noChangeAspect="1"/>
          </p:cNvPicPr>
          <p:nvPr/>
        </p:nvPicPr>
        <p:blipFill>
          <a:blip r:embed="rId2"/>
          <a:stretch>
            <a:fillRect/>
          </a:stretch>
        </p:blipFill>
        <p:spPr>
          <a:xfrm>
            <a:off x="6665686" y="2495550"/>
            <a:ext cx="4245429" cy="2971800"/>
          </a:xfrm>
          <a:prstGeom prst="rect">
            <a:avLst/>
          </a:prstGeom>
        </p:spPr>
      </p:pic>
      <p:sp>
        <p:nvSpPr>
          <p:cNvPr id="18" name="Shape 14"/>
          <p:cNvSpPr/>
          <p:nvPr/>
        </p:nvSpPr>
        <p:spPr>
          <a:xfrm>
            <a:off x="6200775" y="2492375"/>
            <a:ext cx="5175250" cy="2978150"/>
          </a:xfrm>
          <a:prstGeom prst="roundRect">
            <a:avLst>
              <a:gd name="adj" fmla="val 3305"/>
            </a:avLst>
          </a:prstGeom>
          <a:noFill/>
          <a:ln w="6350">
            <a:solidFill>
              <a:srgbClr val="E5E5EA"/>
            </a:solidFill>
            <a:prstDash val="solid"/>
          </a:ln>
        </p:spPr>
      </p:sp>
      <p:sp>
        <p:nvSpPr>
          <p:cNvPr id="19" name="Text 15"/>
          <p:cNvSpPr/>
          <p:nvPr/>
        </p:nvSpPr>
        <p:spPr>
          <a:xfrm>
            <a:off x="6197600" y="5549900"/>
            <a:ext cx="533704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E6E73"/>
                </a:solidFill>
                <a:latin typeface="Inter" pitchFamily="34" charset="0"/>
                <a:ea typeface="Inter" pitchFamily="34" charset="-122"/>
                <a:cs typeface="Inter" pitchFamily="34" charset="-120"/>
              </a:rPr>
              <a:t>Fraud classification page: enter a transaction, get a verdict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spc="-100" kern="0" dirty="0">
                <a:solidFill>
                  <a:srgbClr val="1D1D1F"/>
                </a:solidFill>
                <a:latin typeface="Inter" pitchFamily="34" charset="0"/>
                <a:ea typeface="Inter" pitchFamily="34" charset="-122"/>
                <a:cs typeface="Inter" pitchFamily="34" charset="-120"/>
              </a:rPr>
              <a:t>What the data told us</a:t>
            </a:r>
            <a:endParaRPr lang="en-US" sz="3600" dirty="0"/>
          </a:p>
        </p:txBody>
      </p:sp>
      <p:sp>
        <p:nvSpPr>
          <p:cNvPr id="3" name="Shape 1"/>
          <p:cNvSpPr/>
          <p:nvPr/>
        </p:nvSpPr>
        <p:spPr>
          <a:xfrm>
            <a:off x="812800" y="1620521"/>
            <a:ext cx="5181600" cy="2009140"/>
          </a:xfrm>
          <a:prstGeom prst="roundRect">
            <a:avLst>
              <a:gd name="adj" fmla="val 7585"/>
            </a:avLst>
          </a:prstGeom>
          <a:solidFill>
            <a:srgbClr val="F5F5F7"/>
          </a:solidFill>
          <a:ln/>
        </p:spPr>
      </p:sp>
      <p:sp>
        <p:nvSpPr>
          <p:cNvPr id="4" name="Text 2"/>
          <p:cNvSpPr/>
          <p:nvPr/>
        </p:nvSpPr>
        <p:spPr>
          <a:xfrm>
            <a:off x="1117600" y="2131061"/>
            <a:ext cx="4709160"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1D1D1F"/>
                </a:solidFill>
                <a:latin typeface="Inter" pitchFamily="34" charset="0"/>
                <a:ea typeface="Inter" pitchFamily="34" charset="-122"/>
                <a:cs typeface="Inter" pitchFamily="34" charset="-120"/>
              </a:rPr>
              <a:t>400</a:t>
            </a:r>
            <a:endParaRPr lang="en-US" sz="4800" dirty="0"/>
          </a:p>
        </p:txBody>
      </p:sp>
      <p:sp>
        <p:nvSpPr>
          <p:cNvPr id="5" name="Text 3"/>
          <p:cNvSpPr/>
          <p:nvPr/>
        </p:nvSpPr>
        <p:spPr>
          <a:xfrm>
            <a:off x="1117600" y="2852421"/>
            <a:ext cx="470916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E6E73"/>
                </a:solidFill>
                <a:latin typeface="Inter" pitchFamily="34" charset="0"/>
                <a:ea typeface="Inter" pitchFamily="34" charset="-122"/>
                <a:cs typeface="Inter" pitchFamily="34" charset="-120"/>
              </a:rPr>
              <a:t>transactions, 16 features</a:t>
            </a:r>
            <a:endParaRPr lang="en-US" sz="1500" dirty="0"/>
          </a:p>
        </p:txBody>
      </p:sp>
      <p:sp>
        <p:nvSpPr>
          <p:cNvPr id="6" name="Shape 4"/>
          <p:cNvSpPr/>
          <p:nvPr/>
        </p:nvSpPr>
        <p:spPr>
          <a:xfrm>
            <a:off x="6197600" y="1620521"/>
            <a:ext cx="5181600" cy="2009140"/>
          </a:xfrm>
          <a:prstGeom prst="roundRect">
            <a:avLst>
              <a:gd name="adj" fmla="val 7585"/>
            </a:avLst>
          </a:prstGeom>
          <a:solidFill>
            <a:srgbClr val="F5F5F7"/>
          </a:solidFill>
          <a:ln/>
        </p:spPr>
      </p:sp>
      <p:sp>
        <p:nvSpPr>
          <p:cNvPr id="7" name="Text 5"/>
          <p:cNvSpPr/>
          <p:nvPr/>
        </p:nvSpPr>
        <p:spPr>
          <a:xfrm>
            <a:off x="6502400" y="2131061"/>
            <a:ext cx="4709160"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1D1D1F"/>
                </a:solidFill>
                <a:latin typeface="Inter" pitchFamily="34" charset="0"/>
                <a:ea typeface="Inter" pitchFamily="34" charset="-122"/>
                <a:cs typeface="Inter" pitchFamily="34" charset="-120"/>
              </a:rPr>
              <a:t>175 / 225</a:t>
            </a:r>
            <a:endParaRPr lang="en-US" sz="4800" dirty="0"/>
          </a:p>
        </p:txBody>
      </p:sp>
      <p:sp>
        <p:nvSpPr>
          <p:cNvPr id="8" name="Text 6"/>
          <p:cNvSpPr/>
          <p:nvPr/>
        </p:nvSpPr>
        <p:spPr>
          <a:xfrm>
            <a:off x="6502400" y="2852421"/>
            <a:ext cx="470916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E6E73"/>
                </a:solidFill>
                <a:latin typeface="Inter" pitchFamily="34" charset="0"/>
                <a:ea typeface="Inter" pitchFamily="34" charset="-122"/>
                <a:cs typeface="Inter" pitchFamily="34" charset="-120"/>
              </a:rPr>
              <a:t>fraud / clean</a:t>
            </a:r>
            <a:endParaRPr lang="en-US" sz="1500" dirty="0"/>
          </a:p>
        </p:txBody>
      </p:sp>
      <p:sp>
        <p:nvSpPr>
          <p:cNvPr id="9" name="Shape 7"/>
          <p:cNvSpPr/>
          <p:nvPr/>
        </p:nvSpPr>
        <p:spPr>
          <a:xfrm>
            <a:off x="812800" y="3832861"/>
            <a:ext cx="5181600" cy="2009140"/>
          </a:xfrm>
          <a:prstGeom prst="roundRect">
            <a:avLst>
              <a:gd name="adj" fmla="val 7585"/>
            </a:avLst>
          </a:prstGeom>
          <a:solidFill>
            <a:srgbClr val="F5F5F7"/>
          </a:solidFill>
          <a:ln/>
        </p:spPr>
      </p:sp>
      <p:sp>
        <p:nvSpPr>
          <p:cNvPr id="10" name="Text 8"/>
          <p:cNvSpPr/>
          <p:nvPr/>
        </p:nvSpPr>
        <p:spPr>
          <a:xfrm>
            <a:off x="1117600" y="4343400"/>
            <a:ext cx="4709160"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1D1D1F"/>
                </a:solidFill>
                <a:latin typeface="Inter" pitchFamily="34" charset="0"/>
                <a:ea typeface="Inter" pitchFamily="34" charset="-122"/>
                <a:cs typeface="Inter" pitchFamily="34" charset="-120"/>
              </a:rPr>
              <a:t>0</a:t>
            </a:r>
            <a:endParaRPr lang="en-US" sz="4800" dirty="0"/>
          </a:p>
        </p:txBody>
      </p:sp>
      <p:sp>
        <p:nvSpPr>
          <p:cNvPr id="11" name="Text 9"/>
          <p:cNvSpPr/>
          <p:nvPr/>
        </p:nvSpPr>
        <p:spPr>
          <a:xfrm>
            <a:off x="1117600" y="5064761"/>
            <a:ext cx="470916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E6E73"/>
                </a:solidFill>
                <a:latin typeface="Inter" pitchFamily="34" charset="0"/>
                <a:ea typeface="Inter" pitchFamily="34" charset="-122"/>
                <a:cs typeface="Inter" pitchFamily="34" charset="-120"/>
              </a:rPr>
              <a:t>missing or impossible values</a:t>
            </a:r>
            <a:endParaRPr lang="en-US" sz="1500" dirty="0"/>
          </a:p>
        </p:txBody>
      </p:sp>
      <p:sp>
        <p:nvSpPr>
          <p:cNvPr id="12" name="Shape 10"/>
          <p:cNvSpPr/>
          <p:nvPr/>
        </p:nvSpPr>
        <p:spPr>
          <a:xfrm>
            <a:off x="6200775" y="3836036"/>
            <a:ext cx="5175250" cy="2002790"/>
          </a:xfrm>
          <a:prstGeom prst="roundRect">
            <a:avLst>
              <a:gd name="adj" fmla="val 7451"/>
            </a:avLst>
          </a:prstGeom>
          <a:solidFill>
            <a:srgbClr val="FFFFFF"/>
          </a:solidFill>
          <a:ln w="6350">
            <a:solidFill>
              <a:srgbClr val="E5E5EA"/>
            </a:solidFill>
            <a:prstDash val="solid"/>
          </a:ln>
        </p:spPr>
      </p:sp>
      <p:sp>
        <p:nvSpPr>
          <p:cNvPr id="13" name="Text 11"/>
          <p:cNvSpPr/>
          <p:nvPr/>
        </p:nvSpPr>
        <p:spPr>
          <a:xfrm>
            <a:off x="6507480" y="4210050"/>
            <a:ext cx="4698695"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0071E3"/>
                </a:solidFill>
                <a:latin typeface="Inter" pitchFamily="34" charset="0"/>
                <a:ea typeface="Inter" pitchFamily="34" charset="-122"/>
                <a:cs typeface="Inter" pitchFamily="34" charset="-120"/>
              </a:rPr>
              <a:t>55%</a:t>
            </a:r>
            <a:endParaRPr lang="en-US" sz="4800" dirty="0"/>
          </a:p>
        </p:txBody>
      </p:sp>
      <p:sp>
        <p:nvSpPr>
          <p:cNvPr id="14" name="Text 12"/>
          <p:cNvSpPr/>
          <p:nvPr/>
        </p:nvSpPr>
        <p:spPr>
          <a:xfrm>
            <a:off x="6507480" y="4931411"/>
            <a:ext cx="46986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D1D1F"/>
                </a:solidFill>
                <a:latin typeface="Inter" pitchFamily="34" charset="0"/>
                <a:ea typeface="Inter" pitchFamily="34" charset="-122"/>
                <a:cs typeface="Inter" pitchFamily="34" charset="-120"/>
              </a:rPr>
              <a:t>of unverified accounts were fraud (41% basic, 38% full)</a:t>
            </a:r>
            <a:endParaRPr lang="en-US" sz="1500" dirty="0"/>
          </a:p>
        </p:txBody>
      </p:sp>
      <p:sp>
        <p:nvSpPr>
          <p:cNvPr id="15" name="Text 13"/>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73"/>
                </a:solidFill>
                <a:latin typeface="Inter" pitchFamily="34" charset="0"/>
                <a:ea typeface="Inter" pitchFamily="34" charset="-122"/>
                <a:cs typeface="Inter" pitchFamily="34" charset="-120"/>
              </a:rPr>
              <a:t>Outliers were counted but kept: fraud is often unusual, and every value passed our SQL consistency 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spc="-100" kern="0" dirty="0">
                <a:solidFill>
                  <a:srgbClr val="1D1D1F"/>
                </a:solidFill>
                <a:latin typeface="Inter" pitchFamily="34" charset="0"/>
                <a:ea typeface="Inter" pitchFamily="34" charset="-122"/>
                <a:cs typeface="Inter" pitchFamily="34" charset="-120"/>
              </a:rPr>
              <a:t>The model: KNN with five features</a:t>
            </a:r>
            <a:endParaRPr lang="en-US" sz="3600" dirty="0"/>
          </a:p>
        </p:txBody>
      </p:sp>
      <p:sp>
        <p:nvSpPr>
          <p:cNvPr id="3" name="Text 1"/>
          <p:cNvSpPr/>
          <p:nvPr/>
        </p:nvSpPr>
        <p:spPr>
          <a:xfrm>
            <a:off x="812800" y="1671321"/>
            <a:ext cx="640969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E6E73"/>
                </a:solidFill>
                <a:latin typeface="Inter" pitchFamily="34" charset="0"/>
                <a:ea typeface="Inter" pitchFamily="34" charset="-122"/>
                <a:cs typeface="Inter" pitchFamily="34" charset="-120"/>
              </a:rPr>
              <a:t>HOW WE CHOSE THE FEATURES</a:t>
            </a:r>
            <a:endParaRPr lang="en-US" sz="1200" dirty="0"/>
          </a:p>
        </p:txBody>
      </p:sp>
      <p:sp>
        <p:nvSpPr>
          <p:cNvPr id="4" name="Text 2"/>
          <p:cNvSpPr/>
          <p:nvPr/>
        </p:nvSpPr>
        <p:spPr>
          <a:xfrm>
            <a:off x="812800" y="2124075"/>
            <a:ext cx="160099"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071E3"/>
                </a:solidFill>
                <a:latin typeface="Inter" pitchFamily="34" charset="0"/>
                <a:ea typeface="Inter" pitchFamily="34" charset="-122"/>
                <a:cs typeface="Inter" pitchFamily="34" charset="-120"/>
              </a:rPr>
              <a:t>1</a:t>
            </a:r>
            <a:endParaRPr lang="en-US" sz="2200" dirty="0"/>
          </a:p>
        </p:txBody>
      </p:sp>
      <p:sp>
        <p:nvSpPr>
          <p:cNvPr id="5" name="Text 3"/>
          <p:cNvSpPr/>
          <p:nvPr/>
        </p:nvSpPr>
        <p:spPr>
          <a:xfrm>
            <a:off x="1074499" y="2062482"/>
            <a:ext cx="614014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1D1F"/>
                </a:solidFill>
                <a:latin typeface="Inter" pitchFamily="34" charset="0"/>
                <a:ea typeface="Inter" pitchFamily="34" charset="-122"/>
                <a:cs typeface="Inter" pitchFamily="34" charset="-120"/>
              </a:rPr>
              <a:t>With SQL we compared the average of every column for fraud and clean.</a:t>
            </a:r>
            <a:endParaRPr lang="en-US" sz="1500" dirty="0"/>
          </a:p>
        </p:txBody>
      </p:sp>
      <p:sp>
        <p:nvSpPr>
          <p:cNvPr id="6" name="Text 4"/>
          <p:cNvSpPr/>
          <p:nvPr/>
        </p:nvSpPr>
        <p:spPr>
          <a:xfrm>
            <a:off x="812800" y="2754632"/>
            <a:ext cx="226854"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071E3"/>
                </a:solidFill>
                <a:latin typeface="Inter" pitchFamily="34" charset="0"/>
                <a:ea typeface="Inter" pitchFamily="34" charset="-122"/>
                <a:cs typeface="Inter" pitchFamily="34" charset="-120"/>
              </a:rPr>
              <a:t>2</a:t>
            </a:r>
            <a:endParaRPr lang="en-US" sz="2200" dirty="0"/>
          </a:p>
        </p:txBody>
      </p:sp>
      <p:sp>
        <p:nvSpPr>
          <p:cNvPr id="7" name="Text 5"/>
          <p:cNvSpPr/>
          <p:nvPr/>
        </p:nvSpPr>
        <p:spPr>
          <a:xfrm>
            <a:off x="1141254" y="2821623"/>
            <a:ext cx="6300946"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1D1F"/>
                </a:solidFill>
                <a:latin typeface="Inter" pitchFamily="34" charset="0"/>
                <a:ea typeface="Inter" pitchFamily="34" charset="-122"/>
                <a:cs typeface="Inter" pitchFamily="34" charset="-120"/>
              </a:rPr>
              <a:t>We kept the columns with a clear difference as candidates.</a:t>
            </a:r>
            <a:endParaRPr lang="en-US" sz="1500" dirty="0"/>
          </a:p>
        </p:txBody>
      </p:sp>
      <p:sp>
        <p:nvSpPr>
          <p:cNvPr id="8" name="Text 6"/>
          <p:cNvSpPr/>
          <p:nvPr/>
        </p:nvSpPr>
        <p:spPr>
          <a:xfrm>
            <a:off x="812800" y="3385186"/>
            <a:ext cx="161449"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071E3"/>
                </a:solidFill>
                <a:latin typeface="Inter" pitchFamily="34" charset="0"/>
                <a:ea typeface="Inter" pitchFamily="34" charset="-122"/>
                <a:cs typeface="Inter" pitchFamily="34" charset="-120"/>
              </a:rPr>
              <a:t>3</a:t>
            </a:r>
            <a:endParaRPr lang="en-US" sz="2200" dirty="0"/>
          </a:p>
        </p:txBody>
      </p:sp>
      <p:sp>
        <p:nvSpPr>
          <p:cNvPr id="9" name="Text 7"/>
          <p:cNvSpPr/>
          <p:nvPr/>
        </p:nvSpPr>
        <p:spPr>
          <a:xfrm>
            <a:off x="1075849" y="3323589"/>
            <a:ext cx="613875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D1D1F"/>
                </a:solidFill>
                <a:latin typeface="Inter" pitchFamily="34" charset="0"/>
                <a:ea typeface="Inter" pitchFamily="34" charset="-122"/>
                <a:cs typeface="Inter" pitchFamily="34" charset="-120"/>
              </a:rPr>
              <a:t>Backward elimination showed that balance change and new address share didn’t help, so we dropped them.</a:t>
            </a:r>
            <a:endParaRPr lang="en-US" sz="1500" dirty="0"/>
          </a:p>
        </p:txBody>
      </p:sp>
      <p:sp>
        <p:nvSpPr>
          <p:cNvPr id="10" name="Text 8"/>
          <p:cNvSpPr/>
          <p:nvPr/>
        </p:nvSpPr>
        <p:spPr>
          <a:xfrm>
            <a:off x="812800" y="4015739"/>
            <a:ext cx="874395" cy="358140"/>
          </a:xfrm>
          <a:prstGeom prst="roundRect">
            <a:avLst>
              <a:gd name="adj" fmla="val 50000"/>
            </a:avLst>
          </a:prstGeom>
          <a:solidFill>
            <a:srgbClr val="F5F5F7"/>
          </a:solidFill>
          <a:ln/>
        </p:spPr>
        <p:txBody>
          <a:bodyPr wrap="none" lIns="0" tIns="0" rIns="0" bIns="0" rtlCol="0" anchor="ctr">
            <a:normAutofit/>
          </a:bodyPr>
          <a:lstStyle/>
          <a:p>
            <a:pPr algn="ctr" indent="0" marL="0">
              <a:lnSpc>
                <a:spcPts val="1820"/>
              </a:lnSpc>
              <a:buNone/>
            </a:pPr>
            <a:r>
              <a:rPr lang="en-US" sz="1300" dirty="0">
                <a:solidFill>
                  <a:srgbClr val="1D1D1F"/>
                </a:solidFill>
                <a:latin typeface="Inter" pitchFamily="34" charset="0"/>
                <a:ea typeface="Inter" pitchFamily="34" charset="-122"/>
                <a:cs typeface="Inter" pitchFamily="34" charset="-120"/>
              </a:rPr>
              <a:t>amount</a:t>
            </a:r>
            <a:endParaRPr lang="en-US" sz="1300" dirty="0"/>
          </a:p>
        </p:txBody>
      </p:sp>
      <p:sp>
        <p:nvSpPr>
          <p:cNvPr id="11" name="Text 9"/>
          <p:cNvSpPr/>
          <p:nvPr/>
        </p:nvSpPr>
        <p:spPr>
          <a:xfrm>
            <a:off x="1763395" y="4015739"/>
            <a:ext cx="1083389" cy="358140"/>
          </a:xfrm>
          <a:prstGeom prst="roundRect">
            <a:avLst>
              <a:gd name="adj" fmla="val 50000"/>
            </a:avLst>
          </a:prstGeom>
          <a:solidFill>
            <a:srgbClr val="F5F5F7"/>
          </a:solidFill>
          <a:ln/>
        </p:spPr>
        <p:txBody>
          <a:bodyPr wrap="none" lIns="0" tIns="0" rIns="0" bIns="0" rtlCol="0" anchor="ctr">
            <a:normAutofit/>
          </a:bodyPr>
          <a:lstStyle/>
          <a:p>
            <a:pPr algn="ctr" indent="0" marL="0">
              <a:lnSpc>
                <a:spcPts val="1820"/>
              </a:lnSpc>
              <a:buNone/>
            </a:pPr>
            <a:r>
              <a:rPr lang="en-US" sz="1300" dirty="0">
                <a:solidFill>
                  <a:srgbClr val="1D1D1F"/>
                </a:solidFill>
                <a:latin typeface="Inter" pitchFamily="34" charset="0"/>
                <a:ea typeface="Inter" pitchFamily="34" charset="-122"/>
                <a:cs typeface="Inter" pitchFamily="34" charset="-120"/>
              </a:rPr>
              <a:t>wallet age</a:t>
            </a:r>
            <a:endParaRPr lang="en-US" sz="1300" dirty="0"/>
          </a:p>
        </p:txBody>
      </p:sp>
      <p:sp>
        <p:nvSpPr>
          <p:cNvPr id="12" name="Text 10"/>
          <p:cNvSpPr/>
          <p:nvPr/>
        </p:nvSpPr>
        <p:spPr>
          <a:xfrm>
            <a:off x="2922984" y="4015739"/>
            <a:ext cx="2370296" cy="358140"/>
          </a:xfrm>
          <a:prstGeom prst="roundRect">
            <a:avLst>
              <a:gd name="adj" fmla="val 50000"/>
            </a:avLst>
          </a:prstGeom>
          <a:solidFill>
            <a:srgbClr val="F5F5F7"/>
          </a:solidFill>
          <a:ln/>
        </p:spPr>
        <p:txBody>
          <a:bodyPr wrap="none" lIns="0" tIns="0" rIns="0" bIns="0" rtlCol="0" anchor="ctr">
            <a:normAutofit/>
          </a:bodyPr>
          <a:lstStyle/>
          <a:p>
            <a:pPr algn="ctr" indent="0" marL="0">
              <a:lnSpc>
                <a:spcPts val="1820"/>
              </a:lnSpc>
              <a:buNone/>
            </a:pPr>
            <a:r>
              <a:rPr lang="en-US" sz="1300" dirty="0">
                <a:solidFill>
                  <a:srgbClr val="1D1D1F"/>
                </a:solidFill>
                <a:latin typeface="Inter" pitchFamily="34" charset="0"/>
                <a:ea typeface="Inter" pitchFamily="34" charset="-122"/>
                <a:cs typeface="Inter" pitchFamily="34" charset="-120"/>
              </a:rPr>
              <a:t>time between transactions</a:t>
            </a:r>
            <a:endParaRPr lang="en-US" sz="1300" dirty="0"/>
          </a:p>
        </p:txBody>
      </p:sp>
      <p:sp>
        <p:nvSpPr>
          <p:cNvPr id="13" name="Text 11"/>
          <p:cNvSpPr/>
          <p:nvPr/>
        </p:nvSpPr>
        <p:spPr>
          <a:xfrm>
            <a:off x="812800" y="4450082"/>
            <a:ext cx="1766888" cy="358140"/>
          </a:xfrm>
          <a:prstGeom prst="roundRect">
            <a:avLst>
              <a:gd name="adj" fmla="val 50000"/>
            </a:avLst>
          </a:prstGeom>
          <a:solidFill>
            <a:srgbClr val="F5F5F7"/>
          </a:solidFill>
          <a:ln/>
        </p:spPr>
        <p:txBody>
          <a:bodyPr wrap="none" lIns="0" tIns="0" rIns="0" bIns="0" rtlCol="0" anchor="ctr">
            <a:normAutofit/>
          </a:bodyPr>
          <a:lstStyle/>
          <a:p>
            <a:pPr algn="ctr" indent="0" marL="0">
              <a:lnSpc>
                <a:spcPts val="1820"/>
              </a:lnSpc>
              <a:buNone/>
            </a:pPr>
            <a:r>
              <a:rPr lang="en-US" sz="1300" dirty="0">
                <a:solidFill>
                  <a:srgbClr val="1D1D1F"/>
                </a:solidFill>
                <a:latin typeface="Inter" pitchFamily="34" charset="0"/>
                <a:ea typeface="Inter" pitchFamily="34" charset="-122"/>
                <a:cs typeface="Inter" pitchFamily="34" charset="-120"/>
              </a:rPr>
              <a:t>spread of that time</a:t>
            </a:r>
            <a:endParaRPr lang="en-US" sz="1300" dirty="0"/>
          </a:p>
        </p:txBody>
      </p:sp>
      <p:sp>
        <p:nvSpPr>
          <p:cNvPr id="14" name="Text 12"/>
          <p:cNvSpPr/>
          <p:nvPr/>
        </p:nvSpPr>
        <p:spPr>
          <a:xfrm>
            <a:off x="2655888" y="4450082"/>
            <a:ext cx="925512" cy="358140"/>
          </a:xfrm>
          <a:prstGeom prst="roundRect">
            <a:avLst>
              <a:gd name="adj" fmla="val 50000"/>
            </a:avLst>
          </a:prstGeom>
          <a:solidFill>
            <a:srgbClr val="F5F5F7"/>
          </a:solidFill>
          <a:ln/>
        </p:spPr>
        <p:txBody>
          <a:bodyPr wrap="none" lIns="0" tIns="0" rIns="0" bIns="0" rtlCol="0" anchor="ctr">
            <a:normAutofit/>
          </a:bodyPr>
          <a:lstStyle/>
          <a:p>
            <a:pPr algn="ctr" indent="0" marL="0">
              <a:lnSpc>
                <a:spcPts val="1820"/>
              </a:lnSpc>
              <a:buNone/>
            </a:pPr>
            <a:r>
              <a:rPr lang="en-US" sz="1300" dirty="0">
                <a:solidFill>
                  <a:srgbClr val="1D1D1F"/>
                </a:solidFill>
                <a:latin typeface="Inter" pitchFamily="34" charset="0"/>
                <a:ea typeface="Inter" pitchFamily="34" charset="-122"/>
                <a:cs typeface="Inter" pitchFamily="34" charset="-120"/>
              </a:rPr>
              <a:t>KYC tier</a:t>
            </a:r>
            <a:endParaRPr lang="en-US" sz="1300" dirty="0"/>
          </a:p>
        </p:txBody>
      </p:sp>
      <p:sp>
        <p:nvSpPr>
          <p:cNvPr id="15" name="Shape 13"/>
          <p:cNvSpPr/>
          <p:nvPr/>
        </p:nvSpPr>
        <p:spPr>
          <a:xfrm>
            <a:off x="7445375" y="1674496"/>
            <a:ext cx="3930650" cy="3792220"/>
          </a:xfrm>
          <a:prstGeom prst="roundRect">
            <a:avLst>
              <a:gd name="adj" fmla="val 3935"/>
            </a:avLst>
          </a:prstGeom>
          <a:solidFill>
            <a:srgbClr val="FFFFFF"/>
          </a:solidFill>
          <a:ln w="6350">
            <a:solidFill>
              <a:srgbClr val="E5E5EA"/>
            </a:solidFill>
            <a:prstDash val="solid"/>
          </a:ln>
        </p:spPr>
      </p:sp>
      <p:sp>
        <p:nvSpPr>
          <p:cNvPr id="16" name="Text 14"/>
          <p:cNvSpPr/>
          <p:nvPr/>
        </p:nvSpPr>
        <p:spPr>
          <a:xfrm>
            <a:off x="7752080" y="1981200"/>
            <a:ext cx="3416757" cy="1168400"/>
          </a:xfrm>
          <a:prstGeom prst="rect">
            <a:avLst/>
          </a:prstGeom>
          <a:noFill/>
          <a:ln/>
        </p:spPr>
        <p:txBody>
          <a:bodyPr wrap="square" lIns="0" tIns="0" rIns="0" bIns="0" rtlCol="0" anchor="t">
            <a:normAutofit/>
          </a:bodyPr>
          <a:lstStyle/>
          <a:p>
            <a:pPr algn="l" indent="0" marL="0">
              <a:lnSpc>
                <a:spcPts val="9000"/>
              </a:lnSpc>
              <a:buNone/>
            </a:pPr>
            <a:r>
              <a:rPr lang="en-US" sz="9000" b="1" spc="-300" kern="0" dirty="0">
                <a:solidFill>
                  <a:srgbClr val="0071E3"/>
                </a:solidFill>
                <a:latin typeface="Inter" pitchFamily="34" charset="0"/>
                <a:ea typeface="Inter" pitchFamily="34" charset="-122"/>
                <a:cs typeface="Inter" pitchFamily="34" charset="-120"/>
              </a:rPr>
              <a:t>70%</a:t>
            </a:r>
            <a:endParaRPr lang="en-US" sz="9000" dirty="0"/>
          </a:p>
        </p:txBody>
      </p:sp>
      <p:sp>
        <p:nvSpPr>
          <p:cNvPr id="17" name="Text 15"/>
          <p:cNvSpPr/>
          <p:nvPr/>
        </p:nvSpPr>
        <p:spPr>
          <a:xfrm>
            <a:off x="7752080" y="3276600"/>
            <a:ext cx="3416757" cy="57404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D1D1F"/>
                </a:solidFill>
                <a:latin typeface="Inter" pitchFamily="34" charset="0"/>
                <a:ea typeface="Inter" pitchFamily="34" charset="-122"/>
                <a:cs typeface="Inter" pitchFamily="34" charset="-120"/>
              </a:rPr>
              <a:t>correct on 80 transactions the model had never seen</a:t>
            </a:r>
            <a:endParaRPr lang="en-US" sz="1600" dirty="0"/>
          </a:p>
        </p:txBody>
      </p:sp>
      <p:pic>
        <p:nvPicPr>
          <p:cNvPr id="18" name="Image 0" descr="line">    </p:cNvPr>
          <p:cNvPicPr>
            <a:picLocks noChangeAspect="1"/>
          </p:cNvPicPr>
          <p:nvPr/>
        </p:nvPicPr>
        <p:blipFill>
          <a:blip r:embed="rId1"/>
          <a:srcRect l="-39" r="-39" t="0" b="0"/>
          <a:stretch/>
        </p:blipFill>
        <p:spPr>
          <a:xfrm>
            <a:off x="7752080" y="3977639"/>
            <a:ext cx="3317240" cy="6350"/>
          </a:xfrm>
          <a:prstGeom prst="rect">
            <a:avLst/>
          </a:prstGeom>
        </p:spPr>
      </p:pic>
      <p:sp>
        <p:nvSpPr>
          <p:cNvPr id="19" name="Text 16"/>
          <p:cNvSpPr/>
          <p:nvPr/>
        </p:nvSpPr>
        <p:spPr>
          <a:xfrm>
            <a:off x="7752080" y="4136389"/>
            <a:ext cx="3416757"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D1D1F"/>
                </a:solidFill>
                <a:latin typeface="Inter" pitchFamily="34" charset="0"/>
                <a:ea typeface="Inter" pitchFamily="34" charset="-122"/>
                <a:cs typeface="Inter" pitchFamily="34" charset="-120"/>
              </a:rPr>
              <a:t>MAE 0.30</a:t>
            </a:r>
            <a:endParaRPr lang="en-US" sz="2800" dirty="0"/>
          </a:p>
        </p:txBody>
      </p:sp>
      <p:sp>
        <p:nvSpPr>
          <p:cNvPr id="20" name="Text 17"/>
          <p:cNvSpPr/>
          <p:nvPr/>
        </p:nvSpPr>
        <p:spPr>
          <a:xfrm>
            <a:off x="7752080" y="4679950"/>
            <a:ext cx="3416757"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6E6E73"/>
                </a:solidFill>
                <a:latin typeface="Inter" pitchFamily="34" charset="0"/>
                <a:ea typeface="Inter" pitchFamily="34" charset="-122"/>
                <a:cs typeface="Inter" pitchFamily="34" charset="-120"/>
              </a:rPr>
              <a:t>KNN with k = 3, features scaled, 80/20 split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p:nvPr>
            <p:ph type="title"/>
          </p:nvPr>
        </p:nvSpPr>
        <p:spPr>
          <a:xfrm>
            <a:off x="812800" y="1870075"/>
            <a:ext cx="10883392" cy="958850"/>
          </a:xfrm>
          <a:prstGeom prst="rect">
            <a:avLst/>
          </a:prstGeom>
          <a:noFill/>
          <a:ln/>
        </p:spPr>
        <p:txBody>
          <a:bodyPr wrap="square" lIns="0" tIns="0" rIns="0" bIns="0" rtlCol="0" anchor="t">
            <a:normAutofit/>
          </a:bodyPr>
          <a:lstStyle/>
          <a:p>
            <a:pPr algn="l" indent="0" marL="0">
              <a:lnSpc>
                <a:spcPts val="7350"/>
              </a:lnSpc>
              <a:buNone/>
            </a:pPr>
            <a:r>
              <a:rPr lang="en-US" sz="7000" b="1" i="0" spc="-200" kern="0" dirty="0">
                <a:solidFill>
                  <a:srgbClr val="1D1D1F"/>
                </a:solidFill>
                <a:latin typeface="Inter" pitchFamily="34" charset="0"/>
                <a:ea typeface="Inter" pitchFamily="34" charset="-122"/>
                <a:cs typeface="Inter" pitchFamily="34" charset="-120"/>
              </a:rPr>
              <a:t>Live demo</a:t>
            </a:r>
            <a:endParaRPr lang="en-US" sz="7000" dirty="0"/>
          </a:p>
        </p:txBody>
      </p:sp>
      <p:sp>
        <p:nvSpPr>
          <p:cNvPr id="3" name="Shape 1"/>
          <p:cNvSpPr/>
          <p:nvPr/>
        </p:nvSpPr>
        <p:spPr>
          <a:xfrm>
            <a:off x="812800" y="3209925"/>
            <a:ext cx="5181600" cy="1778000"/>
          </a:xfrm>
          <a:prstGeom prst="roundRect">
            <a:avLst>
              <a:gd name="adj" fmla="val 8571"/>
            </a:avLst>
          </a:prstGeom>
          <a:solidFill>
            <a:srgbClr val="FFFFFF"/>
          </a:solidFill>
          <a:ln/>
        </p:spPr>
      </p:sp>
      <p:sp>
        <p:nvSpPr>
          <p:cNvPr id="4" name="Text 2"/>
          <p:cNvSpPr/>
          <p:nvPr/>
        </p:nvSpPr>
        <p:spPr>
          <a:xfrm>
            <a:off x="1066800" y="3463925"/>
            <a:ext cx="481380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1E3"/>
                </a:solidFill>
                <a:latin typeface="Inter" pitchFamily="34" charset="0"/>
                <a:ea typeface="Inter" pitchFamily="34" charset="-122"/>
                <a:cs typeface="Inter" pitchFamily="34" charset="-120"/>
              </a:rPr>
              <a:t>Step 1</a:t>
            </a:r>
            <a:endParaRPr lang="en-US" sz="1400" dirty="0"/>
          </a:p>
        </p:txBody>
      </p:sp>
      <p:sp>
        <p:nvSpPr>
          <p:cNvPr id="5" name="Text 3"/>
          <p:cNvSpPr/>
          <p:nvPr/>
        </p:nvSpPr>
        <p:spPr>
          <a:xfrm>
            <a:off x="1066800" y="3789046"/>
            <a:ext cx="4813808"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D1D1F"/>
                </a:solidFill>
                <a:latin typeface="Inter" pitchFamily="34" charset="0"/>
                <a:ea typeface="Inter" pitchFamily="34" charset="-122"/>
                <a:cs typeface="Inter" pitchFamily="34" charset="-120"/>
              </a:rPr>
              <a:t>Statistics</a:t>
            </a:r>
            <a:endParaRPr lang="en-US" sz="2200" dirty="0"/>
          </a:p>
        </p:txBody>
      </p:sp>
      <p:sp>
        <p:nvSpPr>
          <p:cNvPr id="6" name="Text 4"/>
          <p:cNvSpPr/>
          <p:nvPr/>
        </p:nvSpPr>
        <p:spPr>
          <a:xfrm>
            <a:off x="1066800" y="4200525"/>
            <a:ext cx="481380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E6E73"/>
                </a:solidFill>
                <a:latin typeface="Inter" pitchFamily="34" charset="0"/>
                <a:ea typeface="Inter" pitchFamily="34" charset="-122"/>
                <a:cs typeface="Inter" pitchFamily="34" charset="-120"/>
              </a:rPr>
              <a:t>Pick a feature and compare fraud with clean transactions.</a:t>
            </a:r>
            <a:endParaRPr lang="en-US" sz="1500" dirty="0"/>
          </a:p>
        </p:txBody>
      </p:sp>
      <p:sp>
        <p:nvSpPr>
          <p:cNvPr id="7" name="Shape 5"/>
          <p:cNvSpPr/>
          <p:nvPr/>
        </p:nvSpPr>
        <p:spPr>
          <a:xfrm>
            <a:off x="6197600" y="3209925"/>
            <a:ext cx="5181600" cy="1778000"/>
          </a:xfrm>
          <a:prstGeom prst="roundRect">
            <a:avLst>
              <a:gd name="adj" fmla="val 8571"/>
            </a:avLst>
          </a:prstGeom>
          <a:solidFill>
            <a:srgbClr val="FFFFFF"/>
          </a:solidFill>
          <a:ln/>
        </p:spPr>
      </p:sp>
      <p:sp>
        <p:nvSpPr>
          <p:cNvPr id="8" name="Text 6"/>
          <p:cNvSpPr/>
          <p:nvPr/>
        </p:nvSpPr>
        <p:spPr>
          <a:xfrm>
            <a:off x="6451600" y="3463925"/>
            <a:ext cx="4813808"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1E3"/>
                </a:solidFill>
                <a:latin typeface="Inter" pitchFamily="34" charset="0"/>
                <a:ea typeface="Inter" pitchFamily="34" charset="-122"/>
                <a:cs typeface="Inter" pitchFamily="34" charset="-120"/>
              </a:rPr>
              <a:t>Step 2</a:t>
            </a:r>
            <a:endParaRPr lang="en-US" sz="1400" dirty="0"/>
          </a:p>
        </p:txBody>
      </p:sp>
      <p:sp>
        <p:nvSpPr>
          <p:cNvPr id="9" name="Text 7"/>
          <p:cNvSpPr/>
          <p:nvPr/>
        </p:nvSpPr>
        <p:spPr>
          <a:xfrm>
            <a:off x="6451600" y="3789046"/>
            <a:ext cx="4813808"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D1D1F"/>
                </a:solidFill>
                <a:latin typeface="Inter" pitchFamily="34" charset="0"/>
                <a:ea typeface="Inter" pitchFamily="34" charset="-122"/>
                <a:cs typeface="Inter" pitchFamily="34" charset="-120"/>
              </a:rPr>
              <a:t>Fraud classification</a:t>
            </a:r>
            <a:endParaRPr lang="en-US" sz="2200" dirty="0"/>
          </a:p>
        </p:txBody>
      </p:sp>
      <p:sp>
        <p:nvSpPr>
          <p:cNvPr id="10" name="Text 8"/>
          <p:cNvSpPr/>
          <p:nvPr/>
        </p:nvSpPr>
        <p:spPr>
          <a:xfrm>
            <a:off x="6451600" y="4200525"/>
            <a:ext cx="481380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E6E73"/>
                </a:solidFill>
                <a:latin typeface="Inter" pitchFamily="34" charset="0"/>
                <a:ea typeface="Inter" pitchFamily="34" charset="-122"/>
                <a:cs typeface="Inter" pitchFamily="34" charset="-120"/>
              </a:rPr>
              <a:t>Enter a transaction, get a verdict and its 3 most similar past transactions.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spc="-100" kern="0" dirty="0">
                <a:solidFill>
                  <a:srgbClr val="1D1D1F"/>
                </a:solidFill>
                <a:latin typeface="Inter" pitchFamily="34" charset="0"/>
                <a:ea typeface="Inter" pitchFamily="34" charset="-122"/>
                <a:cs typeface="Inter" pitchFamily="34" charset="-120"/>
              </a:rPr>
              <a:t>How we worked</a:t>
            </a:r>
            <a:endParaRPr lang="en-US" sz="3600" dirty="0"/>
          </a:p>
        </p:txBody>
      </p:sp>
      <p:sp>
        <p:nvSpPr>
          <p:cNvPr id="3" name="Shape 1"/>
          <p:cNvSpPr/>
          <p:nvPr/>
        </p:nvSpPr>
        <p:spPr>
          <a:xfrm>
            <a:off x="815975" y="1674496"/>
            <a:ext cx="10560050" cy="1686560"/>
          </a:xfrm>
          <a:prstGeom prst="roundRect">
            <a:avLst>
              <a:gd name="adj" fmla="val 8848"/>
            </a:avLst>
          </a:prstGeom>
          <a:solidFill>
            <a:srgbClr val="FFFFFF"/>
          </a:solidFill>
          <a:ln w="6350">
            <a:solidFill>
              <a:srgbClr val="E5E5EA"/>
            </a:solidFill>
            <a:prstDash val="solid"/>
          </a:ln>
        </p:spPr>
      </p:sp>
      <p:sp>
        <p:nvSpPr>
          <p:cNvPr id="4" name="Text 2"/>
          <p:cNvSpPr/>
          <p:nvPr/>
        </p:nvSpPr>
        <p:spPr>
          <a:xfrm>
            <a:off x="1071880" y="1930400"/>
            <a:ext cx="10349687"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D1D1F"/>
                </a:solidFill>
                <a:latin typeface="Inter" pitchFamily="34" charset="0"/>
                <a:ea typeface="Inter" pitchFamily="34" charset="-122"/>
                <a:cs typeface="Inter" pitchFamily="34" charset="-120"/>
              </a:rPr>
              <a:t>How we worked</a:t>
            </a:r>
            <a:endParaRPr lang="en-US" sz="1800" dirty="0"/>
          </a:p>
        </p:txBody>
      </p:sp>
      <p:sp>
        <p:nvSpPr>
          <p:cNvPr id="5" name="Text 3"/>
          <p:cNvSpPr/>
          <p:nvPr/>
        </p:nvSpPr>
        <p:spPr>
          <a:xfrm>
            <a:off x="1156462" y="2331721"/>
            <a:ext cx="10257485" cy="798830"/>
          </a:xfrm>
          <a:prstGeom prst="rect">
            <a:avLst/>
          </a:prstGeom>
          <a:noFill/>
          <a:ln/>
        </p:spPr>
        <p:txBody>
          <a:bodyPr wrap="square" lIns="0" tIns="0" rIns="0" bIns="0" rtlCol="0" anchor="t">
            <a:normAutofit/>
          </a:bodyPr>
          <a:lstStyle/>
          <a:p>
            <a:pPr algn="l" marL="169418" indent="-169418">
              <a:lnSpc>
                <a:spcPts val="2030"/>
              </a:lnSpc>
              <a:buSzPct val="100000"/>
              <a:buChar char="•"/>
            </a:pPr>
            <a:r>
              <a:rPr lang="en-US" sz="1400" dirty="0">
                <a:solidFill>
                  <a:srgbClr val="1D1D1F"/>
                </a:solidFill>
                <a:latin typeface="Inter" pitchFamily="34" charset="0"/>
                <a:ea typeface="Inter" pitchFamily="34" charset="-122"/>
                <a:cs typeface="Inter" pitchFamily="34" charset="-120"/>
              </a:rPr>
              <a:t>Two of us: requirements, design and sketches and frotend</a:t>
            </a:r>
            <a:endParaRPr lang="en-US" sz="1400" dirty="0"/>
          </a:p>
          <a:p>
            <a:pPr algn="l" marL="169418" indent="-169418">
              <a:lnSpc>
                <a:spcPts val="2030"/>
              </a:lnSpc>
              <a:buSzPct val="100000"/>
              <a:buChar char="•"/>
            </a:pPr>
            <a:r>
              <a:rPr lang="en-US" sz="1400" dirty="0">
                <a:solidFill>
                  <a:srgbClr val="1D1D1F"/>
                </a:solidFill>
                <a:latin typeface="Inter" pitchFamily="34" charset="0"/>
                <a:ea typeface="Inter" pitchFamily="34" charset="-122"/>
                <a:cs typeface="Inter" pitchFamily="34" charset="-120"/>
              </a:rPr>
              <a:t>Two of us: data cleaning, SQL and the model</a:t>
            </a:r>
            <a:endParaRPr lang="en-US" sz="1400" dirty="0"/>
          </a:p>
          <a:p>
            <a:pPr algn="l" marL="169418" indent="-169418">
              <a:lnSpc>
                <a:spcPts val="2030"/>
              </a:lnSpc>
              <a:buSzPct val="100000"/>
              <a:buChar char="•"/>
            </a:pPr>
            <a:r>
              <a:rPr lang="en-US" sz="1400" dirty="0">
                <a:solidFill>
                  <a:srgbClr val="1D1D1F"/>
                </a:solidFill>
                <a:latin typeface="Inter" pitchFamily="34" charset="0"/>
                <a:ea typeface="Inter" pitchFamily="34" charset="-122"/>
                <a:cs typeface="Inter" pitchFamily="34" charset="-120"/>
              </a:rPr>
              <a:t>Together: everything joined in one Streamlit app</a:t>
            </a:r>
            <a:endParaRPr lang="en-US" sz="1400" dirty="0"/>
          </a:p>
        </p:txBody>
      </p:sp>
    </p:spTree>
  </p:cSld>
  <p:clrMapOvr>
    <a:masterClrMapping/>
  </p:clrMapOvr>
</p:sld>
</file>

<file path=ppt/theme/theme1.xml><?xml version="1.0" encoding="utf-8"?>
<a:theme xmlns:a="http://schemas.openxmlformats.org/drawingml/2006/main" name="Crypto Fraud Desk">
  <a:themeElements>
    <a:clrScheme name="Crypto Fraud Desk">
      <a:dk1>
        <a:srgbClr val="1D1D1F"/>
      </a:dk1>
      <a:lt1>
        <a:srgbClr val="FBFBFD"/>
      </a:lt1>
      <a:dk2>
        <a:srgbClr val="555557"/>
      </a:dk2>
      <a:lt2>
        <a:srgbClr val="E5E5E7"/>
      </a:lt2>
      <a:accent1>
        <a:srgbClr val="0071E3"/>
      </a:accent1>
      <a:accent2>
        <a:srgbClr val="6E6E73"/>
      </a:accent2>
      <a:accent3>
        <a:srgbClr val="9AA0A6"/>
      </a:accent3>
      <a:accent4>
        <a:srgbClr val="767678"/>
      </a:accent4>
      <a:accent5>
        <a:srgbClr val="979799"/>
      </a:accent5>
      <a:accent6>
        <a:srgbClr val="B8B8BA"/>
      </a:accent6>
      <a:hlink>
        <a:srgbClr val="0563C1"/>
      </a:hlink>
      <a:folHlink>
        <a:srgbClr val="954F72"/>
      </a:folHlink>
    </a:clrScheme>
    <a:fontScheme name="Crypto Fraud Desk">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Crypto Fraud Desk</dc:title>
  <dc:subject/>
  <dc:creator/>
  <cp:lastModifiedBy/>
  <cp:revision>1</cp:revision>
  <dcterms:created xsi:type="dcterms:W3CDTF">2026-10-18T20:44:44Z</dcterms:created>
  <dcterms:modified xsi:type="dcterms:W3CDTF">2026-10-18T20:44:44Z</dcterms:modified>
</cp:coreProperties>
</file>