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lis Tsiftsis" userId="04aaece2082b40e7" providerId="LiveId" clId="{48442419-AC4D-4915-A70C-70FF2F296BDB}"/>
    <pc:docChg chg="modSld">
      <pc:chgData name="Manolis Tsiftsis" userId="04aaece2082b40e7" providerId="LiveId" clId="{48442419-AC4D-4915-A70C-70FF2F296BDB}" dt="2026-10-20T16:04:37.524" v="73" actId="20577"/>
      <pc:docMkLst>
        <pc:docMk/>
      </pc:docMkLst>
      <pc:sldChg chg="modNotesTx">
        <pc:chgData name="Manolis Tsiftsis" userId="04aaece2082b40e7" providerId="LiveId" clId="{48442419-AC4D-4915-A70C-70FF2F296BDB}" dt="2026-10-18T20:47:38.104" v="2" actId="20577"/>
        <pc:sldMkLst>
          <pc:docMk/>
          <pc:sldMk cId="0" sldId="256"/>
        </pc:sldMkLst>
      </pc:sldChg>
      <pc:sldChg chg="modSp mod modNotesTx">
        <pc:chgData name="Manolis Tsiftsis" userId="04aaece2082b40e7" providerId="LiveId" clId="{48442419-AC4D-4915-A70C-70FF2F296BDB}" dt="2026-10-20T16:04:37.524" v="73" actId="20577"/>
        <pc:sldMkLst>
          <pc:docMk/>
          <pc:sldMk cId="0" sldId="257"/>
        </pc:sldMkLst>
        <pc:spChg chg="mod">
          <ac:chgData name="Manolis Tsiftsis" userId="04aaece2082b40e7" providerId="LiveId" clId="{48442419-AC4D-4915-A70C-70FF2F296BDB}" dt="2026-10-20T16:04:37.524" v="73" actId="20577"/>
          <ac:spMkLst>
            <pc:docMk/>
            <pc:sldMk cId="0" sldId="257"/>
            <ac:spMk id="4" creationId="{00000000-0000-0000-0000-000000000000}"/>
          </ac:spMkLst>
        </pc:spChg>
      </pc:sldChg>
      <pc:sldChg chg="modNotesTx">
        <pc:chgData name="Manolis Tsiftsis" userId="04aaece2082b40e7" providerId="LiveId" clId="{48442419-AC4D-4915-A70C-70FF2F296BDB}" dt="2026-10-18T20:48:02.434" v="8" actId="20577"/>
        <pc:sldMkLst>
          <pc:docMk/>
          <pc:sldMk cId="0" sldId="258"/>
        </pc:sldMkLst>
      </pc:sldChg>
      <pc:sldChg chg="modNotesTx">
        <pc:chgData name="Manolis Tsiftsis" userId="04aaece2082b40e7" providerId="LiveId" clId="{48442419-AC4D-4915-A70C-70FF2F296BDB}" dt="2026-10-18T20:48:05.656" v="9" actId="20577"/>
        <pc:sldMkLst>
          <pc:docMk/>
          <pc:sldMk cId="0" sldId="259"/>
        </pc:sldMkLst>
      </pc:sldChg>
      <pc:sldChg chg="modNotesTx">
        <pc:chgData name="Manolis Tsiftsis" userId="04aaece2082b40e7" providerId="LiveId" clId="{48442419-AC4D-4915-A70C-70FF2F296BDB}" dt="2026-10-18T20:48:11.540" v="10" actId="20577"/>
        <pc:sldMkLst>
          <pc:docMk/>
          <pc:sldMk cId="0" sldId="260"/>
        </pc:sldMkLst>
      </pc:sldChg>
      <pc:sldChg chg="modNotesTx">
        <pc:chgData name="Manolis Tsiftsis" userId="04aaece2082b40e7" providerId="LiveId" clId="{48442419-AC4D-4915-A70C-70FF2F296BDB}" dt="2026-10-18T20:48:18.974" v="11" actId="20577"/>
        <pc:sldMkLst>
          <pc:docMk/>
          <pc:sldMk cId="0" sldId="261"/>
        </pc:sldMkLst>
      </pc:sldChg>
      <pc:sldChg chg="modNotesTx">
        <pc:chgData name="Manolis Tsiftsis" userId="04aaece2082b40e7" providerId="LiveId" clId="{48442419-AC4D-4915-A70C-70FF2F296BDB}" dt="2026-10-18T20:48:22.686" v="12" actId="20577"/>
        <pc:sldMkLst>
          <pc:docMk/>
          <pc:sldMk cId="0" sldId="262"/>
        </pc:sldMkLst>
      </pc:sldChg>
      <pc:sldChg chg="modNotesTx">
        <pc:chgData name="Manolis Tsiftsis" userId="04aaece2082b40e7" providerId="LiveId" clId="{48442419-AC4D-4915-A70C-70FF2F296BDB}" dt="2026-10-18T20:48:25.552" v="13" actId="20577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047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52015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Diamond · Project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3969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i="0" kern="0" spc="-2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 Fraud 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3776345"/>
            <a:ext cx="85026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Spotting fraudulent crypto transactions before they are released.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7965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Introducing the dream team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91130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i="0" kern="0" spc="-2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Dream Team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772414" y="4082971"/>
            <a:ext cx="536981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386" indent="-294386" algn="l">
              <a:lnSpc>
                <a:spcPts val="3920"/>
              </a:lnSpc>
              <a:buSzPct val="100000"/>
              <a:buChar char="•"/>
            </a:pPr>
            <a:r>
              <a:rPr lang="en-US" sz="28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Vadim()  #he is </a:t>
            </a:r>
            <a:r>
              <a:rPr lang="en-US" sz="280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function 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2414" y="4580890"/>
            <a:ext cx="259664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386" indent="-294386" algn="l">
              <a:lnSpc>
                <a:spcPts val="3920"/>
              </a:lnSpc>
              <a:buSzPct val="100000"/>
              <a:buChar char="•"/>
            </a:pPr>
            <a:r>
              <a:rPr lang="en-US" sz="28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Spyros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2414" y="5078730"/>
            <a:ext cx="352539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386" indent="-294386" algn="l">
              <a:lnSpc>
                <a:spcPts val="3920"/>
              </a:lnSpc>
              <a:buSzPct val="100000"/>
              <a:buChar char="•"/>
            </a:pPr>
            <a:r>
              <a:rPr lang="en-US" sz="28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2414" y="5576570"/>
            <a:ext cx="536981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386" indent="-294386" algn="l">
              <a:lnSpc>
                <a:spcPts val="3920"/>
              </a:lnSpc>
              <a:buSzPct val="100000"/>
              <a:buChar char="•"/>
            </a:pPr>
            <a:r>
              <a:rPr lang="en-US" sz="28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Luca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client and their questions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2212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986280"/>
            <a:ext cx="36626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fraud analyst at a crypto exchange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87528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139441"/>
            <a:ext cx="396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Classification: fraud or clean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3710941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975100"/>
            <a:ext cx="366268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flagged transactions, 16 features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78375" y="1725295"/>
            <a:ext cx="6597650" cy="971550"/>
          </a:xfrm>
          <a:prstGeom prst="roundRect">
            <a:avLst>
              <a:gd name="adj" fmla="val 15359"/>
            </a:avLst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34280" y="1997711"/>
            <a:ext cx="17637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37651" y="1930400"/>
            <a:ext cx="5955943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transaction features differ between fraud and clean?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778375" y="2855595"/>
            <a:ext cx="6597650" cy="836930"/>
          </a:xfrm>
          <a:prstGeom prst="roundRect">
            <a:avLst>
              <a:gd name="adj" fmla="val 17830"/>
            </a:avLst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34280" y="3060700"/>
            <a:ext cx="2428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04088" y="3133725"/>
            <a:ext cx="5968762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account verification level has the most fraud?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778375" y="3851275"/>
            <a:ext cx="6597650" cy="971550"/>
          </a:xfrm>
          <a:prstGeom prst="roundRect">
            <a:avLst>
              <a:gd name="adj" fmla="val 15359"/>
            </a:avLst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034280" y="4123691"/>
            <a:ext cx="1891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50431" y="4056380"/>
            <a:ext cx="59427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this new transaction likely fraud, and which past transactions does it look like?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app is built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34491"/>
            <a:ext cx="1788160" cy="535940"/>
          </a:xfrm>
          <a:prstGeom prst="roundRect">
            <a:avLst>
              <a:gd name="adj" fmla="val 18957"/>
            </a:avLst>
          </a:prstGeom>
          <a:solidFill>
            <a:srgbClr val="F5F5F7"/>
          </a:solidFill>
          <a:ln/>
        </p:spPr>
        <p:txBody>
          <a:bodyPr wrap="square" lIns="46442" tIns="122642" rIns="46442" bIns="9724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data-5.csv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02560" y="1760220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07360" y="1518920"/>
            <a:ext cx="1788160" cy="767080"/>
          </a:xfrm>
          <a:prstGeom prst="roundRect">
            <a:avLst>
              <a:gd name="adj" fmla="val 13245"/>
            </a:avLst>
          </a:prstGeom>
          <a:solidFill>
            <a:srgbClr val="F5F5F7"/>
          </a:solidFill>
          <a:ln/>
        </p:spPr>
        <p:txBody>
          <a:bodyPr wrap="square" lIns="46442" tIns="122642" rIns="46442" bIns="9724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checks and cleaning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97120" y="1760220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01920" y="1634491"/>
            <a:ext cx="1788160" cy="535940"/>
          </a:xfrm>
          <a:prstGeom prst="roundRect">
            <a:avLst>
              <a:gd name="adj" fmla="val 18957"/>
            </a:avLst>
          </a:prstGeom>
          <a:solidFill>
            <a:srgbClr val="F5F5F7"/>
          </a:solidFill>
          <a:ln/>
        </p:spPr>
        <p:txBody>
          <a:bodyPr wrap="square" lIns="46442" tIns="122642" rIns="46442" bIns="9724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features, scaled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91680" y="1760220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96480" y="1634491"/>
            <a:ext cx="1788160" cy="535940"/>
          </a:xfrm>
          <a:prstGeom prst="roundRect">
            <a:avLst>
              <a:gd name="adj" fmla="val 18957"/>
            </a:avLst>
          </a:prstGeom>
          <a:solidFill>
            <a:srgbClr val="F5F5F7"/>
          </a:solidFill>
          <a:ln/>
        </p:spPr>
        <p:txBody>
          <a:bodyPr wrap="square" lIns="46442" tIns="122642" rIns="46442" bIns="9724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KNN, k = 3, saved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286240" y="1760220"/>
            <a:ext cx="254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91040" y="1634491"/>
            <a:ext cx="1788160" cy="535940"/>
          </a:xfrm>
          <a:prstGeom prst="roundRect">
            <a:avLst>
              <a:gd name="adj" fmla="val 18957"/>
            </a:avLst>
          </a:prstGeom>
          <a:solidFill>
            <a:srgbClr val="0071E3"/>
          </a:solidFill>
          <a:ln/>
        </p:spPr>
        <p:txBody>
          <a:bodyPr wrap="square" lIns="46442" tIns="122642" rIns="46442" bIns="9724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2489200"/>
            <a:ext cx="5181600" cy="29845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0" descr="Hand-drawn sketch of the Statistics page: a feature dropdown and mean, median, quartiles, min and max for fraud, clean and mix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886" y="2495550"/>
            <a:ext cx="4245429" cy="2971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15975" y="2492375"/>
            <a:ext cx="5175250" cy="2978150"/>
          </a:xfrm>
          <a:prstGeom prst="roundRect">
            <a:avLst>
              <a:gd name="adj" fmla="val 3305"/>
            </a:avLst>
          </a:prstGeom>
          <a:noFill/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812800" y="5549900"/>
            <a:ext cx="533704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Statistics page: pick a feature, compare fraud and clean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97600" y="2489200"/>
            <a:ext cx="5181600" cy="29845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1" descr="Hand-drawn sketch of the Fraud classification page: mandatory and optional inputs, a submit button, the verdict and the 3 closest transac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686" y="2495550"/>
            <a:ext cx="4245429" cy="29718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00775" y="2492375"/>
            <a:ext cx="5175250" cy="2978150"/>
          </a:xfrm>
          <a:prstGeom prst="roundRect">
            <a:avLst>
              <a:gd name="adj" fmla="val 3305"/>
            </a:avLst>
          </a:prstGeom>
          <a:noFill/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6197600" y="5549900"/>
            <a:ext cx="533704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classification page: enter a transaction, get a verdict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data told us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5181600" cy="2009140"/>
          </a:xfrm>
          <a:prstGeom prst="roundRect">
            <a:avLst>
              <a:gd name="adj" fmla="val 7585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17600" y="2131061"/>
            <a:ext cx="470916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17600" y="2852421"/>
            <a:ext cx="47091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transactions, 16 features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1620521"/>
            <a:ext cx="5181600" cy="2009140"/>
          </a:xfrm>
          <a:prstGeom prst="roundRect">
            <a:avLst>
              <a:gd name="adj" fmla="val 7585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502400" y="2131061"/>
            <a:ext cx="470916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175 / 225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502400" y="2852421"/>
            <a:ext cx="47091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/ clean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800" y="3832861"/>
            <a:ext cx="5181600" cy="2009140"/>
          </a:xfrm>
          <a:prstGeom prst="roundRect">
            <a:avLst>
              <a:gd name="adj" fmla="val 7585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117600" y="4343400"/>
            <a:ext cx="470916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117600" y="5064761"/>
            <a:ext cx="47091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or impossible values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836036"/>
            <a:ext cx="5175250" cy="2002790"/>
          </a:xfrm>
          <a:prstGeom prst="roundRect">
            <a:avLst>
              <a:gd name="adj" fmla="val 7451"/>
            </a:avLst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07480" y="4210050"/>
            <a:ext cx="4698695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507480" y="4931411"/>
            <a:ext cx="469869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unverified accounts were fraud (41% basic, 38% full)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 were counted but kept: fraud is often unusual, and every value passed our SQL consistency checks.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model: KNN with five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321"/>
            <a:ext cx="64096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CHOSE THE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124075"/>
            <a:ext cx="16009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4499" y="2062482"/>
            <a:ext cx="614014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SQL we compared the average of every column for fraud and clean.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754632"/>
            <a:ext cx="22685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1254" y="2821623"/>
            <a:ext cx="630094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kept the columns with a clear difference as candidates.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385186"/>
            <a:ext cx="16144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5849" y="3323589"/>
            <a:ext cx="613875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Backward elimination showed that balance change and new address share didn’t help, so we dropped them.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4015739"/>
            <a:ext cx="874395" cy="3581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63395" y="4015739"/>
            <a:ext cx="1083389" cy="3581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2984" y="4015739"/>
            <a:ext cx="2370296" cy="3581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between transactions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4450082"/>
            <a:ext cx="1766888" cy="3581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spread of that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5888" y="4450082"/>
            <a:ext cx="925512" cy="35814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KYC tier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45375" y="1674496"/>
            <a:ext cx="3930650" cy="3792220"/>
          </a:xfrm>
          <a:prstGeom prst="roundRect">
            <a:avLst>
              <a:gd name="adj" fmla="val 3935"/>
            </a:avLst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752080" y="1981200"/>
            <a:ext cx="3416757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9000" b="1" kern="0" spc="-3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9000" dirty="0"/>
          </a:p>
        </p:txBody>
      </p:sp>
      <p:sp>
        <p:nvSpPr>
          <p:cNvPr id="17" name="Text 15"/>
          <p:cNvSpPr/>
          <p:nvPr/>
        </p:nvSpPr>
        <p:spPr>
          <a:xfrm>
            <a:off x="7752080" y="3276600"/>
            <a:ext cx="3416757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on 80 transactions the model had never seen</a:t>
            </a:r>
            <a:endParaRPr lang="en-US" sz="1600" dirty="0"/>
          </a:p>
        </p:txBody>
      </p:sp>
      <p:pic>
        <p:nvPicPr>
          <p:cNvPr id="18" name="Image 0" descr="line"/>
          <p:cNvPicPr>
            <a:picLocks noChangeAspect="1"/>
          </p:cNvPicPr>
          <p:nvPr/>
        </p:nvPicPr>
        <p:blipFill>
          <a:blip r:embed="rId3"/>
          <a:srcRect l="-39" r="-39"/>
          <a:stretch/>
        </p:blipFill>
        <p:spPr>
          <a:xfrm>
            <a:off x="7752080" y="3977639"/>
            <a:ext cx="3317240" cy="63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52080" y="4136389"/>
            <a:ext cx="341675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 0.30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752080" y="4679950"/>
            <a:ext cx="341675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KNN with k = 3, features scaled, 80/20 split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8700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i="0" kern="0" spc="-2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812800" y="3209925"/>
            <a:ext cx="5181600" cy="1778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66800" y="3463925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66800" y="3789046"/>
            <a:ext cx="481380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6800" y="4200525"/>
            <a:ext cx="48138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 feature and compare fraud with clean transactions.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3209925"/>
            <a:ext cx="5181600" cy="1778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51600" y="3463925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51600" y="3789046"/>
            <a:ext cx="481380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classification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51600" y="4200525"/>
            <a:ext cx="48138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a transaction, get a verdict and its 3 most similar past transactions.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worked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10560050" cy="1686560"/>
          </a:xfrm>
          <a:prstGeom prst="roundRect">
            <a:avLst>
              <a:gd name="adj" fmla="val 8848"/>
            </a:avLst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1034968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worked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56462" y="2331721"/>
            <a:ext cx="10257485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of us: requirements, design and sketches and frotend</a:t>
            </a:r>
            <a:endParaRPr lang="en-US" sz="1400" dirty="0"/>
          </a:p>
          <a:p>
            <a:pPr marL="169418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of us: data cleaning, SQL and the model</a:t>
            </a:r>
            <a:endParaRPr lang="en-US" sz="1400" dirty="0"/>
          </a:p>
          <a:p>
            <a:pPr marL="169418" indent="-1694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Together: everything joined in one Streamlit 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ypto Fraud Desk">
  <a:themeElements>
    <a:clrScheme name="Crypto Fraud Desk">
      <a:dk1>
        <a:srgbClr val="1D1D1F"/>
      </a:dk1>
      <a:lt1>
        <a:srgbClr val="FBFBFD"/>
      </a:lt1>
      <a:dk2>
        <a:srgbClr val="555557"/>
      </a:dk2>
      <a:lt2>
        <a:srgbClr val="E5E5E7"/>
      </a:lt2>
      <a:accent1>
        <a:srgbClr val="0071E3"/>
      </a:accent1>
      <a:accent2>
        <a:srgbClr val="6E6E73"/>
      </a:accent2>
      <a:accent3>
        <a:srgbClr val="9AA0A6"/>
      </a:accent3>
      <a:accent4>
        <a:srgbClr val="767678"/>
      </a:accent4>
      <a:accent5>
        <a:srgbClr val="979799"/>
      </a:accent5>
      <a:accent6>
        <a:srgbClr val="B8B8BA"/>
      </a:accent6>
      <a:hlink>
        <a:srgbClr val="0563C1"/>
      </a:hlink>
      <a:folHlink>
        <a:srgbClr val="954F72"/>
      </a:folHlink>
    </a:clrScheme>
    <a:fontScheme name="Crypto Fraud Desk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375</Words>
  <Application>Microsoft Office PowerPoint</Application>
  <PresentationFormat>Widescreen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Inter</vt:lpstr>
      <vt:lpstr>Crypto Fraud Desk</vt:lpstr>
      <vt:lpstr>Crypto Fraud </vt:lpstr>
      <vt:lpstr>The Dream Team</vt:lpstr>
      <vt:lpstr>The client and their questions</vt:lpstr>
      <vt:lpstr>How the app is built</vt:lpstr>
      <vt:lpstr>What the data told us</vt:lpstr>
      <vt:lpstr>The model: KNN with five features</vt:lpstr>
      <vt:lpstr>Live demo</vt:lpstr>
      <vt:lpstr>How we worked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Fraud Desk</dc:title>
  <dc:subject/>
  <dc:creator/>
  <cp:lastModifiedBy>Manolis Tsiftsis</cp:lastModifiedBy>
  <cp:revision>1</cp:revision>
  <dcterms:created xsi:type="dcterms:W3CDTF">2026-10-18T20:44:44Z</dcterms:created>
  <dcterms:modified xsi:type="dcterms:W3CDTF">2026-10-20T16:04:37Z</dcterms:modified>
</cp:coreProperties>
</file>