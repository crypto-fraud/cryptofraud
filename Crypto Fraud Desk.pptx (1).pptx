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Carlito" charset="1" panose="020F0502020204030204"/>
      <p:regular r:id="rId30"/>
    </p:embeddedFont>
    <p:embeddedFont>
      <p:font typeface="Carlito Bold" charset="1" panose="020F0502020204030204"/>
      <p:regular r:id="rId34"/>
    </p:embeddedFont>
    <p:embeddedFont>
      <p:font typeface="Canva Sans Bold" charset="1" panose="020B0803030501040103"/>
      <p:regular r:id="rId37"/>
    </p:embeddedFont>
    <p:embeddedFont>
      <p:font typeface="Carlito Bold Italics" charset="1" panose="020F0502020204030204"/>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notesMasters/notesMaster1.xml" Type="http://schemas.openxmlformats.org/officeDocument/2006/relationships/notesMaster"/><Relationship Id="rId28" Target="theme/theme2.xml" Type="http://schemas.openxmlformats.org/officeDocument/2006/relationships/theme"/><Relationship Id="rId29" Target="notesSlides/notesSlide1.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notesSlides/notesSlide2.xml" Type="http://schemas.openxmlformats.org/officeDocument/2006/relationships/notesSlide"/><Relationship Id="rId32" Target="notesSlides/notesSlide3.xml" Type="http://schemas.openxmlformats.org/officeDocument/2006/relationships/notesSlide"/><Relationship Id="rId33" Target="notesSlides/notesSlide4.xml" Type="http://schemas.openxmlformats.org/officeDocument/2006/relationships/notesSlide"/><Relationship Id="rId34" Target="fonts/font34.fntdata" Type="http://schemas.openxmlformats.org/officeDocument/2006/relationships/font"/><Relationship Id="rId35" Target="notesSlides/notesSlide5.xml" Type="http://schemas.openxmlformats.org/officeDocument/2006/relationships/notesSlide"/><Relationship Id="rId36" Target="notesSlides/notesSlide6.xml" Type="http://schemas.openxmlformats.org/officeDocument/2006/relationships/notesSlide"/><Relationship Id="rId37" Target="fonts/font37.fntdata" Type="http://schemas.openxmlformats.org/officeDocument/2006/relationships/font"/><Relationship Id="rId38" Target="notesSlides/notesSlide7.xml" Type="http://schemas.openxmlformats.org/officeDocument/2006/relationships/notesSlide"/><Relationship Id="rId39" Target="notesSlides/notesSlide8.xml" Type="http://schemas.openxmlformats.org/officeDocument/2006/relationships/notesSlide"/><Relationship Id="rId4" Target="theme/theme1.xml" Type="http://schemas.openxmlformats.org/officeDocument/2006/relationships/theme"/><Relationship Id="rId40" Target="notesSlides/notesSlide9.xml" Type="http://schemas.openxmlformats.org/officeDocument/2006/relationships/notesSlide"/><Relationship Id="rId41" Target="fonts/font41.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Whoever opens (about 10 seconds): “Hi, we are the dream team. Our client is a crypto exchange that wants to catch fraudulent transactions before the money leaves. We built a Streamlit app for that.” Then hand over to the next slide.</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anyone, 10 seconds. “Introducing the dream team: Vadim, Spyros, Manos and Luca.” Each person can raise a hand when their name is said.</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[design person 1], about 45 seconds. “Our client is a crypto exchange. Their fraud analysts get flagged transactions and have to decide quickly if they are fraud, before the money leaves. Our app helps with three things: exploring the data to see how fraud differs from clean transactions, predicting whether a new transaction is fraud, and explaining that prediction by showing the three most similar past transactions.”</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[design person 1 or 2], about 45 seconds. “With our TA as the client we agreed on three user questions [read them] and on what the app must do: show statistics per feature for fraud and clean, show the fraud rate per verification level, let the user enter a transaction, classify it with our saved model, and show the three most similar past transactions next to every verdict. The machine learning goal is classification: fraud or clean.” CHECK: make the questions and the requirements match your Requirements Document (1.3.1) if they differ.</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Manos, about 1 minute. “Before training anything we checked the data. 400 transactions, 175 fraud and 225 clean. Fifteen columns are numbers and one is text, the verification level, which we one-hot encoded for the model. There were no missing values, so no imputation was needed. With SQL we checked every column for impossible values, like negative amounts, hours outside 0 to 23 or fractions above 1, and we found none. We did find outliers with the IQR rule, for example 49 in the amount, but we kept them, because fraud is often unusual and the values are real.”</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[design person 2], about 1 minute. “This is how data moves through our system. Training happens once, in our notebook: we read the CSV, check it with SQL, keep five features, one-hot encode and scale them, train KNN with k equals 3, and save the model and the scaler. The app then has two flows. On the Statistics page the user picks a feature and a pandasql query computes the statistics for fraud and clean. On the classification page the user enters a transaction, it is encoded and scaled with the saved scaler, the saved model gives a verdict, and we show the three most similar past transactions.” If you have your own drawn data flow diagram from the design document, you can put a picture of it here instead.</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[your friend’s name], about 1 minute. “At first we used SQL to compare the average of every column for fraud and clean transactions. The columns with a clear difference looked useful, so those were our candidates. Then we did backward elimination: we removed them one by one and checked the error. Balance change and the share of new addresses didn’t make the model better, so we dropped them, and we kept five features. The model is a KNN classifier with k equals 3. On 80 transactions it had never seen, it is right 70 percent of the time, against 56 percent if you always guess clean. It catches 24 of the 35 frauds, that’s the recall, and 24 of its 37 fraud alarms are correct, that’s the precision. In our notebook we reported this as an MAE of 0.30, which for fraud or clean is simply the share of wrong answers.”</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[whoever built the pages], 2 to 3 minutes. Switch to the app (already running: streamlit run Statistics.py). 1. Statistics page: choose “amount”, point at the fraud mean vs the clean mean. Then choose “kyc_tier” and show the fraud rate table. 2. Fraud classification page, example that comes out FRAUD: amount 85.26, wallet age 58, seconds between transactions 536, standard deviation 1147, verification stage unverified. Submit, read the verdict, point at the 3 most similar past transactions. 3. Example that comes out NOT FRAUD: amount 196.97, wallet age 113, seconds between transactions 1060, standard deviation 931, verification stage full. Write these two examples on paper before the presentation.</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anyone, about 45 seconds. “What worked well: we split into a design team and a data team and joined everything in one app, the SQL exploration showed us which features to try, and showing the three most similar transactions makes every verdict easy to check. What could be better: we picked features using a test set of only 80 transactions, so one transaction changes the score by more than one percent. The app also asks for inputs the model doesn’t use, and at first we measured MAE instead of accuracy. In the next iteration we would use cross-validation to choose the features and k, show how sure the model is, and only ask for the five inputs it needs. Thank you, any questions?”</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jpeg" Type="http://schemas.openxmlformats.org/officeDocument/2006/relationships/image"/><Relationship Id="rId4"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0.png" Type="http://schemas.openxmlformats.org/officeDocument/2006/relationships/image"/><Relationship Id="rId4"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media/image2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611810" y="4469298"/>
            <a:ext cx="9708914" cy="5295771"/>
          </a:xfrm>
          <a:custGeom>
            <a:avLst/>
            <a:gdLst/>
            <a:ahLst/>
            <a:cxnLst/>
            <a:rect r="r" b="b" t="t" l="l"/>
            <a:pathLst>
              <a:path h="5295771" w="9708914">
                <a:moveTo>
                  <a:pt x="0" y="0"/>
                </a:moveTo>
                <a:lnTo>
                  <a:pt x="9708914" y="0"/>
                </a:lnTo>
                <a:lnTo>
                  <a:pt x="9708914" y="5295771"/>
                </a:lnTo>
                <a:lnTo>
                  <a:pt x="0" y="5295771"/>
                </a:lnTo>
                <a:lnTo>
                  <a:pt x="0" y="0"/>
                </a:lnTo>
                <a:close/>
              </a:path>
            </a:pathLst>
          </a:custGeom>
          <a:blipFill>
            <a:blip r:embed="rId3"/>
            <a:stretch>
              <a:fillRect l="0" t="0" r="0" b="0"/>
            </a:stretch>
          </a:blipFill>
        </p:spPr>
      </p:sp>
      <p:sp>
        <p:nvSpPr>
          <p:cNvPr name="TextBox 3" id="3"/>
          <p:cNvSpPr txBox="true"/>
          <p:nvPr/>
        </p:nvSpPr>
        <p:spPr>
          <a:xfrm rot="0">
            <a:off x="934212" y="1752383"/>
            <a:ext cx="16325088" cy="1474394"/>
          </a:xfrm>
          <a:prstGeom prst="rect">
            <a:avLst/>
          </a:prstGeom>
        </p:spPr>
        <p:txBody>
          <a:bodyPr anchor="t" rtlCol="false" tIns="0" lIns="0" bIns="0" rIns="0">
            <a:spAutoFit/>
          </a:bodyPr>
          <a:lstStyle/>
          <a:p>
            <a:pPr algn="l">
              <a:lnSpc>
                <a:spcPts val="10560"/>
              </a:lnSpc>
            </a:pPr>
            <a:r>
              <a:rPr lang="en-US" sz="9600">
                <a:solidFill>
                  <a:srgbClr val="1A1A1A"/>
                </a:solidFill>
                <a:latin typeface="Carlito"/>
                <a:ea typeface="Carlito"/>
                <a:cs typeface="Carlito"/>
                <a:sym typeface="Carlito"/>
              </a:rPr>
              <a:t>Crypto Fraud</a:t>
            </a:r>
          </a:p>
        </p:txBody>
      </p:sp>
      <p:sp>
        <p:nvSpPr>
          <p:cNvPr name="TextBox 4" id="4"/>
          <p:cNvSpPr txBox="true"/>
          <p:nvPr/>
        </p:nvSpPr>
        <p:spPr>
          <a:xfrm rot="0">
            <a:off x="934212" y="3398227"/>
            <a:ext cx="16325088" cy="640080"/>
          </a:xfrm>
          <a:prstGeom prst="rect">
            <a:avLst/>
          </a:prstGeom>
        </p:spPr>
        <p:txBody>
          <a:bodyPr anchor="t" rtlCol="false" tIns="0" lIns="0" bIns="0" rIns="0">
            <a:spAutoFit/>
          </a:bodyPr>
          <a:lstStyle/>
          <a:p>
            <a:pPr algn="l">
              <a:lnSpc>
                <a:spcPts val="4680"/>
              </a:lnSpc>
            </a:pPr>
            <a:r>
              <a:rPr lang="en-US" sz="3600">
                <a:solidFill>
                  <a:srgbClr val="404040"/>
                </a:solidFill>
                <a:latin typeface="Carlito"/>
                <a:ea typeface="Carlito"/>
                <a:cs typeface="Carlito"/>
                <a:sym typeface="Carlito"/>
              </a:rPr>
              <a:t>Spotting fraudulent crypto transactions before they are released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376600" y="2445944"/>
            <a:ext cx="7018326" cy="7018326"/>
          </a:xfrm>
          <a:custGeom>
            <a:avLst/>
            <a:gdLst/>
            <a:ahLst/>
            <a:cxnLst/>
            <a:rect r="r" b="b" t="t" l="l"/>
            <a:pathLst>
              <a:path h="7018326" w="7018326">
                <a:moveTo>
                  <a:pt x="0" y="0"/>
                </a:moveTo>
                <a:lnTo>
                  <a:pt x="7018327" y="0"/>
                </a:lnTo>
                <a:lnTo>
                  <a:pt x="7018327" y="7018326"/>
                </a:lnTo>
                <a:lnTo>
                  <a:pt x="0" y="7018326"/>
                </a:lnTo>
                <a:lnTo>
                  <a:pt x="0" y="0"/>
                </a:lnTo>
                <a:close/>
              </a:path>
            </a:pathLst>
          </a:custGeom>
          <a:blipFill>
            <a:blip r:embed="rId3"/>
            <a:stretch>
              <a:fillRect l="0" t="0" r="0" b="0"/>
            </a:stretch>
          </a:blipFill>
        </p:spPr>
      </p:sp>
      <p:sp>
        <p:nvSpPr>
          <p:cNvPr name="TextBox 3" id="3"/>
          <p:cNvSpPr txBox="true"/>
          <p:nvPr/>
        </p:nvSpPr>
        <p:spPr>
          <a:xfrm rot="0">
            <a:off x="1219200" y="990600"/>
            <a:ext cx="5837634" cy="1074420"/>
          </a:xfrm>
          <a:prstGeom prst="rect">
            <a:avLst/>
          </a:prstGeom>
        </p:spPr>
        <p:txBody>
          <a:bodyPr anchor="t" rtlCol="false" tIns="0" lIns="0" bIns="0" rIns="0">
            <a:spAutoFit/>
          </a:bodyPr>
          <a:lstStyle/>
          <a:p>
            <a:pPr algn="l">
              <a:lnSpc>
                <a:spcPts val="7260"/>
              </a:lnSpc>
            </a:pPr>
            <a:r>
              <a:rPr lang="en-US" sz="6600">
                <a:solidFill>
                  <a:srgbClr val="1A1A1A"/>
                </a:solidFill>
                <a:latin typeface="Carlito"/>
                <a:ea typeface="Carlito"/>
                <a:cs typeface="Carlito"/>
                <a:sym typeface="Carlito"/>
              </a:rPr>
              <a:t>The Dream Team</a:t>
            </a:r>
          </a:p>
        </p:txBody>
      </p:sp>
      <p:sp>
        <p:nvSpPr>
          <p:cNvPr name="TextBox 4" id="4"/>
          <p:cNvSpPr txBox="true"/>
          <p:nvPr/>
        </p:nvSpPr>
        <p:spPr>
          <a:xfrm rot="0">
            <a:off x="1219200" y="2322119"/>
            <a:ext cx="16325088" cy="695325"/>
          </a:xfrm>
          <a:prstGeom prst="rect">
            <a:avLst/>
          </a:prstGeom>
        </p:spPr>
        <p:txBody>
          <a:bodyPr anchor="t" rtlCol="false" tIns="0" lIns="0" bIns="0" rIns="0">
            <a:spAutoFit/>
          </a:bodyPr>
          <a:lstStyle/>
          <a:p>
            <a:pPr algn="l">
              <a:lnSpc>
                <a:spcPts val="4200"/>
              </a:lnSpc>
            </a:pPr>
            <a:r>
              <a:rPr lang="en-US" sz="3000">
                <a:solidFill>
                  <a:srgbClr val="404040"/>
                </a:solidFill>
                <a:latin typeface="Carlito"/>
                <a:ea typeface="Carlito"/>
                <a:cs typeface="Carlito"/>
                <a:sym typeface="Carlito"/>
              </a:rPr>
              <a:t>Introducing the dream team</a:t>
            </a:r>
          </a:p>
        </p:txBody>
      </p:sp>
      <p:sp>
        <p:nvSpPr>
          <p:cNvPr name="TextBox 5" id="5"/>
          <p:cNvSpPr txBox="true"/>
          <p:nvPr/>
        </p:nvSpPr>
        <p:spPr>
          <a:xfrm rot="0">
            <a:off x="1220343" y="3265094"/>
            <a:ext cx="16312515" cy="2952750"/>
          </a:xfrm>
          <a:prstGeom prst="rect">
            <a:avLst/>
          </a:prstGeom>
        </p:spPr>
        <p:txBody>
          <a:bodyPr anchor="t" rtlCol="false" tIns="0" lIns="0" bIns="0" rIns="0">
            <a:spAutoFit/>
          </a:bodyPr>
          <a:lstStyle/>
          <a:p>
            <a:pPr algn="l" marL="651510" indent="-325755" lvl="1">
              <a:lnSpc>
                <a:spcPts val="5400"/>
              </a:lnSpc>
              <a:buFont typeface="Arial"/>
              <a:buChar char="•"/>
            </a:pPr>
            <a:r>
              <a:rPr lang="en-US" sz="3600">
                <a:solidFill>
                  <a:srgbClr val="1A1A1A"/>
                </a:solidFill>
                <a:latin typeface="Carlito"/>
                <a:ea typeface="Carlito"/>
                <a:cs typeface="Carlito"/>
                <a:sym typeface="Carlito"/>
              </a:rPr>
              <a:t>Vadim() #he is a function</a:t>
            </a:r>
          </a:p>
          <a:p>
            <a:pPr algn="l" marL="651510" indent="-325755" lvl="1">
              <a:lnSpc>
                <a:spcPts val="5400"/>
              </a:lnSpc>
              <a:buFont typeface="Arial"/>
              <a:buChar char="•"/>
            </a:pPr>
            <a:r>
              <a:rPr lang="en-US" sz="3600">
                <a:solidFill>
                  <a:srgbClr val="1A1A1A"/>
                </a:solidFill>
                <a:latin typeface="Carlito"/>
                <a:ea typeface="Carlito"/>
                <a:cs typeface="Carlito"/>
                <a:sym typeface="Carlito"/>
              </a:rPr>
              <a:t>Spyros</a:t>
            </a:r>
          </a:p>
          <a:p>
            <a:pPr algn="l" marL="651510" indent="-325755" lvl="1">
              <a:lnSpc>
                <a:spcPts val="5400"/>
              </a:lnSpc>
              <a:buFont typeface="Arial"/>
              <a:buChar char="•"/>
            </a:pPr>
            <a:r>
              <a:rPr lang="en-US" sz="3600">
                <a:solidFill>
                  <a:srgbClr val="1A1A1A"/>
                </a:solidFill>
                <a:latin typeface="Carlito"/>
                <a:ea typeface="Carlito"/>
                <a:cs typeface="Carlito"/>
                <a:sym typeface="Carlito"/>
              </a:rPr>
              <a:t>Manos</a:t>
            </a:r>
          </a:p>
          <a:p>
            <a:pPr algn="l" marL="651510" indent="-325755" lvl="1">
              <a:lnSpc>
                <a:spcPts val="5400"/>
              </a:lnSpc>
              <a:buFont typeface="Arial"/>
              <a:buChar char="•"/>
            </a:pPr>
            <a:r>
              <a:rPr lang="en-US" sz="3600">
                <a:solidFill>
                  <a:srgbClr val="1A1A1A"/>
                </a:solidFill>
                <a:latin typeface="Carlito"/>
                <a:ea typeface="Carlito"/>
                <a:cs typeface="Carlito"/>
                <a:sym typeface="Carlito"/>
              </a:rPr>
              <a:t>Luca</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19200" y="990600"/>
            <a:ext cx="16325088" cy="1036244"/>
          </a:xfrm>
          <a:prstGeom prst="rect">
            <a:avLst/>
          </a:prstGeom>
        </p:spPr>
        <p:txBody>
          <a:bodyPr anchor="t" rtlCol="false" tIns="0" lIns="0" bIns="0" rIns="0">
            <a:spAutoFit/>
          </a:bodyPr>
          <a:lstStyle/>
          <a:p>
            <a:pPr algn="l">
              <a:lnSpc>
                <a:spcPts val="7260"/>
              </a:lnSpc>
            </a:pPr>
            <a:r>
              <a:rPr lang="en-US" sz="6600">
                <a:solidFill>
                  <a:srgbClr val="1A1A1A"/>
                </a:solidFill>
                <a:latin typeface="Carlito"/>
                <a:ea typeface="Carlito"/>
                <a:cs typeface="Carlito"/>
                <a:sym typeface="Carlito"/>
              </a:rPr>
              <a:t>Purpose of the App</a:t>
            </a:r>
          </a:p>
        </p:txBody>
      </p:sp>
      <p:sp>
        <p:nvSpPr>
          <p:cNvPr name="TextBox 3" id="3"/>
          <p:cNvSpPr txBox="true"/>
          <p:nvPr/>
        </p:nvSpPr>
        <p:spPr>
          <a:xfrm rot="0">
            <a:off x="1241679" y="2255444"/>
            <a:ext cx="16291179" cy="613410"/>
          </a:xfrm>
          <a:prstGeom prst="rect">
            <a:avLst/>
          </a:prstGeom>
        </p:spPr>
        <p:txBody>
          <a:bodyPr anchor="t" rtlCol="false" tIns="0" lIns="0" bIns="0" rIns="0">
            <a:spAutoFit/>
          </a:bodyPr>
          <a:lstStyle/>
          <a:p>
            <a:pPr algn="l" marL="597218" indent="-298609" lvl="1">
              <a:lnSpc>
                <a:spcPts val="4455"/>
              </a:lnSpc>
              <a:buFont typeface="Arial"/>
              <a:buChar char="•"/>
            </a:pPr>
            <a:r>
              <a:rPr lang="en-US" sz="3300">
                <a:solidFill>
                  <a:srgbClr val="1A1A1A"/>
                </a:solidFill>
                <a:latin typeface="Carlito"/>
                <a:ea typeface="Carlito"/>
                <a:cs typeface="Carlito"/>
                <a:sym typeface="Carlito"/>
              </a:rPr>
              <a:t>Help the fraud analysts team decide if a flagged crypto transaction is fraud</a:t>
            </a:r>
          </a:p>
        </p:txBody>
      </p:sp>
      <p:sp>
        <p:nvSpPr>
          <p:cNvPr name="TextBox 4" id="4"/>
          <p:cNvSpPr txBox="true"/>
          <p:nvPr/>
        </p:nvSpPr>
        <p:spPr>
          <a:xfrm rot="0">
            <a:off x="1532001" y="2916441"/>
            <a:ext cx="15993999" cy="501015"/>
          </a:xfrm>
          <a:prstGeom prst="rect">
            <a:avLst/>
          </a:prstGeom>
        </p:spPr>
        <p:txBody>
          <a:bodyPr anchor="t" rtlCol="false" tIns="0" lIns="0" bIns="0" rIns="0">
            <a:spAutoFit/>
          </a:bodyPr>
          <a:lstStyle/>
          <a:p>
            <a:pPr algn="l" marL="488632" indent="-244316" lvl="1">
              <a:lnSpc>
                <a:spcPts val="3645"/>
              </a:lnSpc>
              <a:buFont typeface="Arial"/>
              <a:buChar char="•"/>
            </a:pPr>
            <a:r>
              <a:rPr lang="en-US" sz="2700">
                <a:solidFill>
                  <a:srgbClr val="404040"/>
                </a:solidFill>
                <a:latin typeface="Carlito"/>
                <a:ea typeface="Carlito"/>
                <a:cs typeface="Carlito"/>
                <a:sym typeface="Carlito"/>
              </a:rPr>
              <a:t>User: the fraud analysts team at a crypto exchange</a:t>
            </a:r>
          </a:p>
        </p:txBody>
      </p:sp>
      <p:sp>
        <p:nvSpPr>
          <p:cNvPr name="TextBox 5" id="5"/>
          <p:cNvSpPr txBox="true"/>
          <p:nvPr/>
        </p:nvSpPr>
        <p:spPr>
          <a:xfrm rot="0">
            <a:off x="1219200" y="4185047"/>
            <a:ext cx="16325088" cy="758133"/>
          </a:xfrm>
          <a:prstGeom prst="rect">
            <a:avLst/>
          </a:prstGeom>
        </p:spPr>
        <p:txBody>
          <a:bodyPr anchor="t" rtlCol="false" tIns="0" lIns="0" bIns="0" rIns="0">
            <a:spAutoFit/>
          </a:bodyPr>
          <a:lstStyle/>
          <a:p>
            <a:pPr algn="l">
              <a:lnSpc>
                <a:spcPts val="4620"/>
              </a:lnSpc>
            </a:pPr>
            <a:r>
              <a:rPr lang="en-US" sz="3300">
                <a:solidFill>
                  <a:srgbClr val="1A1A1A"/>
                </a:solidFill>
                <a:latin typeface="Carlito"/>
                <a:ea typeface="Carlito"/>
                <a:cs typeface="Carlito"/>
                <a:sym typeface="Carlito"/>
              </a:rPr>
              <a:t>1. Explore the data</a:t>
            </a:r>
          </a:p>
        </p:txBody>
      </p:sp>
      <p:sp>
        <p:nvSpPr>
          <p:cNvPr name="TextBox 6" id="6"/>
          <p:cNvSpPr txBox="true"/>
          <p:nvPr/>
        </p:nvSpPr>
        <p:spPr>
          <a:xfrm rot="0">
            <a:off x="1828800" y="4847930"/>
            <a:ext cx="15697200" cy="586683"/>
          </a:xfrm>
          <a:prstGeom prst="rect">
            <a:avLst/>
          </a:prstGeom>
        </p:spPr>
        <p:txBody>
          <a:bodyPr anchor="t" rtlCol="false" tIns="0" lIns="0" bIns="0" rIns="0">
            <a:spAutoFit/>
          </a:bodyPr>
          <a:lstStyle/>
          <a:p>
            <a:pPr algn="l">
              <a:lnSpc>
                <a:spcPts val="3569"/>
              </a:lnSpc>
            </a:pPr>
            <a:r>
              <a:rPr lang="en-US" sz="2550">
                <a:solidFill>
                  <a:srgbClr val="404040"/>
                </a:solidFill>
                <a:latin typeface="Carlito"/>
                <a:ea typeface="Carlito"/>
                <a:cs typeface="Carlito"/>
                <a:sym typeface="Carlito"/>
              </a:rPr>
              <a:t>Compare fraud and clean transactions per feature, with SQL</a:t>
            </a:r>
          </a:p>
        </p:txBody>
      </p:sp>
      <p:sp>
        <p:nvSpPr>
          <p:cNvPr name="TextBox 7" id="7"/>
          <p:cNvSpPr txBox="true"/>
          <p:nvPr/>
        </p:nvSpPr>
        <p:spPr>
          <a:xfrm rot="0">
            <a:off x="1219200" y="5453663"/>
            <a:ext cx="16325088" cy="758133"/>
          </a:xfrm>
          <a:prstGeom prst="rect">
            <a:avLst/>
          </a:prstGeom>
        </p:spPr>
        <p:txBody>
          <a:bodyPr anchor="t" rtlCol="false" tIns="0" lIns="0" bIns="0" rIns="0">
            <a:spAutoFit/>
          </a:bodyPr>
          <a:lstStyle/>
          <a:p>
            <a:pPr algn="l">
              <a:lnSpc>
                <a:spcPts val="4620"/>
              </a:lnSpc>
            </a:pPr>
            <a:r>
              <a:rPr lang="en-US" sz="3300">
                <a:solidFill>
                  <a:srgbClr val="1A1A1A"/>
                </a:solidFill>
                <a:latin typeface="Carlito"/>
                <a:ea typeface="Carlito"/>
                <a:cs typeface="Carlito"/>
                <a:sym typeface="Carlito"/>
              </a:rPr>
              <a:t>2. Predict</a:t>
            </a:r>
          </a:p>
        </p:txBody>
      </p:sp>
      <p:sp>
        <p:nvSpPr>
          <p:cNvPr name="TextBox 8" id="8"/>
          <p:cNvSpPr txBox="true"/>
          <p:nvPr/>
        </p:nvSpPr>
        <p:spPr>
          <a:xfrm rot="0">
            <a:off x="1828800" y="6116536"/>
            <a:ext cx="15697200" cy="586683"/>
          </a:xfrm>
          <a:prstGeom prst="rect">
            <a:avLst/>
          </a:prstGeom>
        </p:spPr>
        <p:txBody>
          <a:bodyPr anchor="t" rtlCol="false" tIns="0" lIns="0" bIns="0" rIns="0">
            <a:spAutoFit/>
          </a:bodyPr>
          <a:lstStyle/>
          <a:p>
            <a:pPr algn="l">
              <a:lnSpc>
                <a:spcPts val="3569"/>
              </a:lnSpc>
            </a:pPr>
            <a:r>
              <a:rPr lang="en-US" sz="2550">
                <a:solidFill>
                  <a:srgbClr val="404040"/>
                </a:solidFill>
                <a:latin typeface="Carlito"/>
                <a:ea typeface="Carlito"/>
                <a:cs typeface="Carlito"/>
                <a:sym typeface="Carlito"/>
              </a:rPr>
              <a:t>Enter a new transaction and get a verdict: fraud or clean</a:t>
            </a:r>
          </a:p>
        </p:txBody>
      </p:sp>
      <p:sp>
        <p:nvSpPr>
          <p:cNvPr name="TextBox 9" id="9"/>
          <p:cNvSpPr txBox="true"/>
          <p:nvPr/>
        </p:nvSpPr>
        <p:spPr>
          <a:xfrm rot="0">
            <a:off x="1219200" y="6722269"/>
            <a:ext cx="16325088" cy="758133"/>
          </a:xfrm>
          <a:prstGeom prst="rect">
            <a:avLst/>
          </a:prstGeom>
        </p:spPr>
        <p:txBody>
          <a:bodyPr anchor="t" rtlCol="false" tIns="0" lIns="0" bIns="0" rIns="0">
            <a:spAutoFit/>
          </a:bodyPr>
          <a:lstStyle/>
          <a:p>
            <a:pPr algn="l">
              <a:lnSpc>
                <a:spcPts val="4620"/>
              </a:lnSpc>
            </a:pPr>
            <a:r>
              <a:rPr lang="en-US" sz="3300">
                <a:solidFill>
                  <a:srgbClr val="1A1A1A"/>
                </a:solidFill>
                <a:latin typeface="Carlito"/>
                <a:ea typeface="Carlito"/>
                <a:cs typeface="Carlito"/>
                <a:sym typeface="Carlito"/>
              </a:rPr>
              <a:t>3. Explain</a:t>
            </a:r>
          </a:p>
        </p:txBody>
      </p:sp>
      <p:sp>
        <p:nvSpPr>
          <p:cNvPr name="TextBox 10" id="10"/>
          <p:cNvSpPr txBox="true"/>
          <p:nvPr/>
        </p:nvSpPr>
        <p:spPr>
          <a:xfrm rot="0">
            <a:off x="1828800" y="7385152"/>
            <a:ext cx="15697200" cy="586683"/>
          </a:xfrm>
          <a:prstGeom prst="rect">
            <a:avLst/>
          </a:prstGeom>
        </p:spPr>
        <p:txBody>
          <a:bodyPr anchor="t" rtlCol="false" tIns="0" lIns="0" bIns="0" rIns="0">
            <a:spAutoFit/>
          </a:bodyPr>
          <a:lstStyle/>
          <a:p>
            <a:pPr algn="l">
              <a:lnSpc>
                <a:spcPts val="3569"/>
              </a:lnSpc>
            </a:pPr>
            <a:r>
              <a:rPr lang="en-US" sz="2550">
                <a:solidFill>
                  <a:srgbClr val="404040"/>
                </a:solidFill>
                <a:latin typeface="Carlito"/>
                <a:ea typeface="Carlito"/>
                <a:cs typeface="Carlito"/>
                <a:sym typeface="Carlito"/>
              </a:rPr>
              <a:t>See the 3 most similar past transactions behind each verdict</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19200" y="990600"/>
            <a:ext cx="16325088" cy="1036244"/>
          </a:xfrm>
          <a:prstGeom prst="rect">
            <a:avLst/>
          </a:prstGeom>
        </p:spPr>
        <p:txBody>
          <a:bodyPr anchor="t" rtlCol="false" tIns="0" lIns="0" bIns="0" rIns="0">
            <a:spAutoFit/>
          </a:bodyPr>
          <a:lstStyle/>
          <a:p>
            <a:pPr algn="l">
              <a:lnSpc>
                <a:spcPts val="7260"/>
              </a:lnSpc>
            </a:pPr>
            <a:r>
              <a:rPr lang="en-US" sz="6600">
                <a:solidFill>
                  <a:srgbClr val="1A1A1A"/>
                </a:solidFill>
                <a:latin typeface="Carlito"/>
                <a:ea typeface="Carlito"/>
                <a:cs typeface="Carlito"/>
                <a:sym typeface="Carlito"/>
              </a:rPr>
              <a:t>Requirements Agreed with the Client</a:t>
            </a:r>
          </a:p>
        </p:txBody>
      </p:sp>
      <p:sp>
        <p:nvSpPr>
          <p:cNvPr name="TextBox 3" id="3"/>
          <p:cNvSpPr txBox="true"/>
          <p:nvPr/>
        </p:nvSpPr>
        <p:spPr>
          <a:xfrm rot="0">
            <a:off x="1219200" y="2322119"/>
            <a:ext cx="7848600" cy="695325"/>
          </a:xfrm>
          <a:prstGeom prst="rect">
            <a:avLst/>
          </a:prstGeom>
        </p:spPr>
        <p:txBody>
          <a:bodyPr anchor="t" rtlCol="false" tIns="0" lIns="0" bIns="0" rIns="0">
            <a:spAutoFit/>
          </a:bodyPr>
          <a:lstStyle/>
          <a:p>
            <a:pPr algn="l">
              <a:lnSpc>
                <a:spcPts val="4200"/>
              </a:lnSpc>
            </a:pPr>
            <a:r>
              <a:rPr lang="en-US" sz="3000" b="true">
                <a:solidFill>
                  <a:srgbClr val="1A1A1A"/>
                </a:solidFill>
                <a:latin typeface="Carlito Bold"/>
                <a:ea typeface="Carlito Bold"/>
                <a:cs typeface="Carlito Bold"/>
                <a:sym typeface="Carlito Bold"/>
              </a:rPr>
              <a:t>User questions</a:t>
            </a:r>
          </a:p>
        </p:txBody>
      </p:sp>
      <p:sp>
        <p:nvSpPr>
          <p:cNvPr name="TextBox 4" id="4"/>
          <p:cNvSpPr txBox="true"/>
          <p:nvPr/>
        </p:nvSpPr>
        <p:spPr>
          <a:xfrm rot="0">
            <a:off x="1219200" y="3084109"/>
            <a:ext cx="7848600" cy="894397"/>
          </a:xfrm>
          <a:prstGeom prst="rect">
            <a:avLst/>
          </a:prstGeom>
        </p:spPr>
        <p:txBody>
          <a:bodyPr anchor="t" rtlCol="false" tIns="0" lIns="0" bIns="0" rIns="0">
            <a:spAutoFit/>
          </a:bodyPr>
          <a:lstStyle/>
          <a:p>
            <a:pPr algn="l">
              <a:lnSpc>
                <a:spcPts val="3442"/>
              </a:lnSpc>
            </a:pPr>
            <a:r>
              <a:rPr lang="en-US" sz="2550">
                <a:solidFill>
                  <a:srgbClr val="1A1A1A"/>
                </a:solidFill>
                <a:latin typeface="Carlito"/>
                <a:ea typeface="Carlito"/>
                <a:cs typeface="Carlito"/>
                <a:sym typeface="Carlito"/>
              </a:rPr>
              <a:t>1. Which transaction features differ between fraud and clean?</a:t>
            </a:r>
          </a:p>
        </p:txBody>
      </p:sp>
      <p:sp>
        <p:nvSpPr>
          <p:cNvPr name="TextBox 5" id="5"/>
          <p:cNvSpPr txBox="true"/>
          <p:nvPr/>
        </p:nvSpPr>
        <p:spPr>
          <a:xfrm rot="0">
            <a:off x="1219200" y="4148928"/>
            <a:ext cx="7848600" cy="560984"/>
          </a:xfrm>
          <a:prstGeom prst="rect">
            <a:avLst/>
          </a:prstGeom>
        </p:spPr>
        <p:txBody>
          <a:bodyPr anchor="t" rtlCol="false" tIns="0" lIns="0" bIns="0" rIns="0">
            <a:spAutoFit/>
          </a:bodyPr>
          <a:lstStyle/>
          <a:p>
            <a:pPr algn="l">
              <a:lnSpc>
                <a:spcPts val="3442"/>
              </a:lnSpc>
            </a:pPr>
            <a:r>
              <a:rPr lang="en-US" sz="2550">
                <a:solidFill>
                  <a:srgbClr val="1A1A1A"/>
                </a:solidFill>
                <a:latin typeface="Carlito"/>
                <a:ea typeface="Carlito"/>
                <a:cs typeface="Carlito"/>
                <a:sym typeface="Carlito"/>
              </a:rPr>
              <a:t>2. Which account verification level has the most fraud?</a:t>
            </a:r>
          </a:p>
        </p:txBody>
      </p:sp>
      <p:sp>
        <p:nvSpPr>
          <p:cNvPr name="TextBox 6" id="6"/>
          <p:cNvSpPr txBox="true"/>
          <p:nvPr/>
        </p:nvSpPr>
        <p:spPr>
          <a:xfrm rot="0">
            <a:off x="1219200" y="4776587"/>
            <a:ext cx="7848600" cy="998144"/>
          </a:xfrm>
          <a:prstGeom prst="rect">
            <a:avLst/>
          </a:prstGeom>
        </p:spPr>
        <p:txBody>
          <a:bodyPr anchor="t" rtlCol="false" tIns="0" lIns="0" bIns="0" rIns="0">
            <a:spAutoFit/>
          </a:bodyPr>
          <a:lstStyle/>
          <a:p>
            <a:pPr algn="l">
              <a:lnSpc>
                <a:spcPts val="3442"/>
              </a:lnSpc>
            </a:pPr>
            <a:r>
              <a:rPr lang="en-US" sz="2550">
                <a:solidFill>
                  <a:srgbClr val="1A1A1A"/>
                </a:solidFill>
                <a:latin typeface="Carlito"/>
                <a:ea typeface="Carlito"/>
                <a:cs typeface="Carlito"/>
                <a:sym typeface="Carlito"/>
              </a:rPr>
              <a:t>3. Is this new transaction likely fraud, and which past transactions does it look like?</a:t>
            </a:r>
          </a:p>
        </p:txBody>
      </p:sp>
      <p:sp>
        <p:nvSpPr>
          <p:cNvPr name="TextBox 7" id="7"/>
          <p:cNvSpPr txBox="true"/>
          <p:nvPr/>
        </p:nvSpPr>
        <p:spPr>
          <a:xfrm rot="0">
            <a:off x="1219200" y="5841406"/>
            <a:ext cx="7848600" cy="560984"/>
          </a:xfrm>
          <a:prstGeom prst="rect">
            <a:avLst/>
          </a:prstGeom>
        </p:spPr>
        <p:txBody>
          <a:bodyPr anchor="t" rtlCol="false" tIns="0" lIns="0" bIns="0" rIns="0">
            <a:spAutoFit/>
          </a:bodyPr>
          <a:lstStyle/>
          <a:p>
            <a:pPr algn="l">
              <a:lnSpc>
                <a:spcPts val="3442"/>
              </a:lnSpc>
            </a:pPr>
            <a:r>
              <a:rPr lang="en-US" sz="2550">
                <a:solidFill>
                  <a:srgbClr val="404040"/>
                </a:solidFill>
                <a:latin typeface="Carlito"/>
                <a:ea typeface="Carlito"/>
                <a:cs typeface="Carlito"/>
                <a:sym typeface="Carlito"/>
              </a:rPr>
              <a:t>Machine learning goal: classification (fraud or clean)</a:t>
            </a:r>
          </a:p>
        </p:txBody>
      </p:sp>
      <p:sp>
        <p:nvSpPr>
          <p:cNvPr name="TextBox 8" id="8"/>
          <p:cNvSpPr txBox="true"/>
          <p:nvPr/>
        </p:nvSpPr>
        <p:spPr>
          <a:xfrm rot="0">
            <a:off x="9448800" y="2322119"/>
            <a:ext cx="7848600" cy="695325"/>
          </a:xfrm>
          <a:prstGeom prst="rect">
            <a:avLst/>
          </a:prstGeom>
        </p:spPr>
        <p:txBody>
          <a:bodyPr anchor="t" rtlCol="false" tIns="0" lIns="0" bIns="0" rIns="0">
            <a:spAutoFit/>
          </a:bodyPr>
          <a:lstStyle/>
          <a:p>
            <a:pPr algn="l">
              <a:lnSpc>
                <a:spcPts val="4200"/>
              </a:lnSpc>
            </a:pPr>
            <a:r>
              <a:rPr lang="en-US" sz="3000" b="true">
                <a:solidFill>
                  <a:srgbClr val="1A1A1A"/>
                </a:solidFill>
                <a:latin typeface="Carlito Bold"/>
                <a:ea typeface="Carlito Bold"/>
                <a:cs typeface="Carlito Bold"/>
                <a:sym typeface="Carlito Bold"/>
              </a:rPr>
              <a:t>The app must</a:t>
            </a:r>
          </a:p>
        </p:txBody>
      </p:sp>
      <p:sp>
        <p:nvSpPr>
          <p:cNvPr name="TextBox 9" id="9"/>
          <p:cNvSpPr txBox="true"/>
          <p:nvPr/>
        </p:nvSpPr>
        <p:spPr>
          <a:xfrm rot="0">
            <a:off x="9543669" y="3046019"/>
            <a:ext cx="7742301" cy="3562350"/>
          </a:xfrm>
          <a:prstGeom prst="rect">
            <a:avLst/>
          </a:prstGeom>
        </p:spPr>
        <p:txBody>
          <a:bodyPr anchor="t" rtlCol="false" tIns="0" lIns="0" bIns="0" rIns="0">
            <a:spAutoFit/>
          </a:bodyPr>
          <a:lstStyle/>
          <a:p>
            <a:pPr algn="l" marL="461486" indent="-230743" lvl="1">
              <a:lnSpc>
                <a:spcPts val="3825"/>
              </a:lnSpc>
              <a:buFont typeface="Arial"/>
              <a:buChar char="•"/>
            </a:pPr>
            <a:r>
              <a:rPr lang="en-US" sz="2550">
                <a:solidFill>
                  <a:srgbClr val="1A1A1A"/>
                </a:solidFill>
                <a:latin typeface="Carlito"/>
                <a:ea typeface="Carlito"/>
                <a:cs typeface="Carlito"/>
                <a:sym typeface="Carlito"/>
              </a:rPr>
              <a:t>Show statistics of a chosen feature for fraud and clean, with pandasql</a:t>
            </a:r>
          </a:p>
          <a:p>
            <a:pPr algn="l" marL="461486" indent="-230743" lvl="1">
              <a:lnSpc>
                <a:spcPts val="3825"/>
              </a:lnSpc>
              <a:buFont typeface="Arial"/>
              <a:buChar char="•"/>
            </a:pPr>
            <a:r>
              <a:rPr lang="en-US" sz="2550">
                <a:solidFill>
                  <a:srgbClr val="1A1A1A"/>
                </a:solidFill>
                <a:latin typeface="Carlito"/>
                <a:ea typeface="Carlito"/>
                <a:cs typeface="Carlito"/>
                <a:sym typeface="Carlito"/>
              </a:rPr>
              <a:t>Show the fraud rate per verification level</a:t>
            </a:r>
          </a:p>
          <a:p>
            <a:pPr algn="l" marL="461486" indent="-230743" lvl="1">
              <a:lnSpc>
                <a:spcPts val="3825"/>
              </a:lnSpc>
              <a:buFont typeface="Arial"/>
              <a:buChar char="•"/>
            </a:pPr>
            <a:r>
              <a:rPr lang="en-US" sz="2550">
                <a:solidFill>
                  <a:srgbClr val="1A1A1A"/>
                </a:solidFill>
                <a:latin typeface="Carlito"/>
                <a:ea typeface="Carlito"/>
                <a:cs typeface="Carlito"/>
                <a:sym typeface="Carlito"/>
              </a:rPr>
              <a:t>Let the user enter a new transaction</a:t>
            </a:r>
          </a:p>
          <a:p>
            <a:pPr algn="l" marL="461486" indent="-230743" lvl="1">
              <a:lnSpc>
                <a:spcPts val="3825"/>
              </a:lnSpc>
              <a:buFont typeface="Arial"/>
              <a:buChar char="•"/>
            </a:pPr>
            <a:r>
              <a:rPr lang="en-US" sz="2550">
                <a:solidFill>
                  <a:srgbClr val="1A1A1A"/>
                </a:solidFill>
                <a:latin typeface="Carlito"/>
                <a:ea typeface="Carlito"/>
                <a:cs typeface="Carlito"/>
                <a:sym typeface="Carlito"/>
              </a:rPr>
              <a:t>Classify it as fraud or clean with the saved model</a:t>
            </a:r>
          </a:p>
          <a:p>
            <a:pPr algn="l" marL="461486" indent="-230743" lvl="1">
              <a:lnSpc>
                <a:spcPts val="3825"/>
              </a:lnSpc>
              <a:buFont typeface="Arial"/>
              <a:buChar char="•"/>
            </a:pPr>
            <a:r>
              <a:rPr lang="en-US" sz="2550">
                <a:solidFill>
                  <a:srgbClr val="1A1A1A"/>
                </a:solidFill>
                <a:latin typeface="Carlito"/>
                <a:ea typeface="Carlito"/>
                <a:cs typeface="Carlito"/>
                <a:sym typeface="Carlito"/>
              </a:rPr>
              <a:t>Show the 3 most similar past transactions next to each verdict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72576" y="2658031"/>
          <a:ext cx="10309142" cy="5718175"/>
        </p:xfrm>
        <a:graphic>
          <a:graphicData uri="http://schemas.openxmlformats.org/drawingml/2006/table">
            <a:tbl>
              <a:tblPr/>
              <a:tblGrid>
                <a:gridCol w="2737979"/>
                <a:gridCol w="5200115"/>
                <a:gridCol w="2371048"/>
              </a:tblGrid>
              <a:tr h="582318">
                <a:tc>
                  <a:txBody>
                    <a:bodyPr anchor="t" rtlCol="false"/>
                    <a:lstStyle/>
                    <a:p>
                      <a:pPr algn="l">
                        <a:lnSpc>
                          <a:spcPts val="3149"/>
                        </a:lnSpc>
                        <a:defRPr/>
                      </a:pPr>
                      <a:r>
                        <a:rPr lang="en-US" sz="2250" b="true">
                          <a:solidFill>
                            <a:srgbClr val="1A1A1A"/>
                          </a:solidFill>
                          <a:latin typeface="Carlito Bold"/>
                          <a:ea typeface="Carlito Bold"/>
                          <a:cs typeface="Carlito Bold"/>
                          <a:sym typeface="Carlito Bold"/>
                        </a:rPr>
                        <a:t>What we checked</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BCBCBC"/>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BCBCBC"/>
                      </a:solidFill>
                      <a:prstDash val="solid"/>
                      <a:round/>
                      <a:headEnd type="none" w="med" len="med"/>
                      <a:tailEnd type="none" w="med" len="med"/>
                    </a:lnB>
                    <a:solidFill>
                      <a:srgbClr val="ECECEC"/>
                    </a:solidFill>
                  </a:tcPr>
                </a:tc>
                <a:tc>
                  <a:txBody>
                    <a:bodyPr anchor="t" rtlCol="false"/>
                    <a:lstStyle/>
                    <a:p>
                      <a:pPr algn="l">
                        <a:lnSpc>
                          <a:spcPts val="3149"/>
                        </a:lnSpc>
                        <a:defRPr/>
                      </a:pPr>
                      <a:r>
                        <a:rPr lang="en-US" sz="2250" b="true">
                          <a:solidFill>
                            <a:srgbClr val="1A1A1A"/>
                          </a:solidFill>
                          <a:latin typeface="Carlito Bold"/>
                          <a:ea typeface="Carlito Bold"/>
                          <a:cs typeface="Carlito Bold"/>
                          <a:sym typeface="Carlito Bold"/>
                        </a:rPr>
                        <a:t>What we found</a:t>
                      </a:r>
                      <a:endParaRPr lang="en-US" sz="1100"/>
                    </a:p>
                  </a:txBody>
                  <a:tcPr marL="66675" marR="66675" marT="66675" marB="66675" anchor="t">
                    <a:lnL cmpd="sng" algn="ctr" cap="flat" w="12700">
                      <a:solidFill>
                        <a:srgbClr val="BCBCBC"/>
                      </a:solidFill>
                      <a:prstDash val="solid"/>
                      <a:round/>
                      <a:headEnd type="none" w="med" len="med"/>
                      <a:tailEnd type="none" w="med" len="med"/>
                    </a:lnL>
                    <a:lnR cmpd="sng" algn="ctr" cap="flat" w="12700">
                      <a:solidFill>
                        <a:srgbClr val="BCBCBC"/>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BCBCBC"/>
                      </a:solidFill>
                      <a:prstDash val="solid"/>
                      <a:round/>
                      <a:headEnd type="none" w="med" len="med"/>
                      <a:tailEnd type="none" w="med" len="med"/>
                    </a:lnB>
                    <a:solidFill>
                      <a:srgbClr val="ECECEC"/>
                    </a:solidFill>
                  </a:tcPr>
                </a:tc>
                <a:tc>
                  <a:txBody>
                    <a:bodyPr anchor="t" rtlCol="false"/>
                    <a:lstStyle/>
                    <a:p>
                      <a:pPr algn="l">
                        <a:lnSpc>
                          <a:spcPts val="3149"/>
                        </a:lnSpc>
                        <a:defRPr/>
                      </a:pPr>
                      <a:r>
                        <a:rPr lang="en-US" sz="2250" b="true">
                          <a:solidFill>
                            <a:srgbClr val="1A1A1A"/>
                          </a:solidFill>
                          <a:latin typeface="Carlito Bold"/>
                          <a:ea typeface="Carlito Bold"/>
                          <a:cs typeface="Carlito Bold"/>
                          <a:sym typeface="Carlito Bold"/>
                        </a:rPr>
                        <a:t>What we did</a:t>
                      </a:r>
                      <a:endParaRPr lang="en-US" sz="1100"/>
                    </a:p>
                  </a:txBody>
                  <a:tcPr marL="66675" marR="66675" marT="66675" marB="66675" anchor="t">
                    <a:lnL cmpd="sng" algn="ctr" cap="flat" w="12700">
                      <a:solidFill>
                        <a:srgbClr val="BCBCBC"/>
                      </a:solidFill>
                      <a:prstDash val="solid"/>
                      <a:round/>
                      <a:headEnd type="none" w="med" len="med"/>
                      <a:tailEnd type="none" w="med" len="med"/>
                    </a:lnL>
                    <a:lnR cmpd="sng" algn="ctr" cap="flat" w="12700">
                      <a:solidFill>
                        <a:srgbClr val="BCBCBC"/>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BCBCBC"/>
                      </a:solidFill>
                      <a:prstDash val="solid"/>
                      <a:round/>
                      <a:headEnd type="none" w="med" len="med"/>
                      <a:tailEnd type="none" w="med" len="med"/>
                    </a:lnB>
                    <a:solidFill>
                      <a:srgbClr val="ECECEC"/>
                    </a:solidFill>
                  </a:tcPr>
                </a:tc>
              </a:tr>
              <a:tr h="983259">
                <a:tc>
                  <a:txBody>
                    <a:bodyPr anchor="t" rtlCol="false"/>
                    <a:lstStyle/>
                    <a:p>
                      <a:pPr algn="l">
                        <a:lnSpc>
                          <a:spcPts val="3149"/>
                        </a:lnSpc>
                        <a:defRPr/>
                      </a:pPr>
                      <a:r>
                        <a:rPr lang="en-US" sz="2250">
                          <a:solidFill>
                            <a:srgbClr val="1A1A1A"/>
                          </a:solidFill>
                          <a:latin typeface="Carlito"/>
                          <a:ea typeface="Carlito"/>
                          <a:cs typeface="Carlito"/>
                          <a:sym typeface="Carlito"/>
                        </a:rPr>
                        <a:t>Column types</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CBCBC"/>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149"/>
                        </a:lnSpc>
                        <a:defRPr/>
                      </a:pPr>
                      <a:r>
                        <a:rPr lang="en-US" sz="2250">
                          <a:solidFill>
                            <a:srgbClr val="1A1A1A"/>
                          </a:solidFill>
                          <a:latin typeface="Carlito"/>
                          <a:ea typeface="Carlito"/>
                          <a:cs typeface="Carlito"/>
                          <a:sym typeface="Carlito"/>
                        </a:rPr>
                        <a:t>15 number columns, 1 text column (kyc_tier)</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CBCBC"/>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149"/>
                        </a:lnSpc>
                        <a:defRPr/>
                      </a:pPr>
                      <a:r>
                        <a:rPr lang="en-US" sz="2250">
                          <a:solidFill>
                            <a:srgbClr val="1A1A1A"/>
                          </a:solidFill>
                          <a:latin typeface="Carlito"/>
                          <a:ea typeface="Carlito"/>
                          <a:cs typeface="Carlito"/>
                          <a:sym typeface="Carlito"/>
                        </a:rPr>
                        <a:t>One-hot encoded kyc_tier</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CBCBC"/>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983259">
                <a:tc>
                  <a:txBody>
                    <a:bodyPr anchor="t" rtlCol="false"/>
                    <a:lstStyle/>
                    <a:p>
                      <a:pPr algn="l">
                        <a:lnSpc>
                          <a:spcPts val="3149"/>
                        </a:lnSpc>
                        <a:defRPr/>
                      </a:pPr>
                      <a:r>
                        <a:rPr lang="en-US" sz="2250">
                          <a:solidFill>
                            <a:srgbClr val="1A1A1A"/>
                          </a:solidFill>
                          <a:latin typeface="Carlito"/>
                          <a:ea typeface="Carlito"/>
                          <a:cs typeface="Carlito"/>
                          <a:sym typeface="Carlito"/>
                        </a:rPr>
                        <a:t>Missing values</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149"/>
                        </a:lnSpc>
                        <a:defRPr/>
                      </a:pPr>
                      <a:r>
                        <a:rPr lang="en-US" sz="2250">
                          <a:solidFill>
                            <a:srgbClr val="1A1A1A"/>
                          </a:solidFill>
                          <a:latin typeface="Carlito"/>
                          <a:ea typeface="Carlito"/>
                          <a:cs typeface="Carlito"/>
                          <a:sym typeface="Carlito"/>
                        </a:rPr>
                        <a:t>None</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149"/>
                        </a:lnSpc>
                        <a:defRPr/>
                      </a:pPr>
                      <a:r>
                        <a:rPr lang="en-US" sz="2250">
                          <a:solidFill>
                            <a:srgbClr val="1A1A1A"/>
                          </a:solidFill>
                          <a:latin typeface="Carlito"/>
                          <a:ea typeface="Carlito"/>
                          <a:cs typeface="Carlito"/>
                          <a:sym typeface="Carlito"/>
                        </a:rPr>
                        <a:t>No imputation needed</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1384199">
                <a:tc>
                  <a:txBody>
                    <a:bodyPr anchor="t" rtlCol="false"/>
                    <a:lstStyle/>
                    <a:p>
                      <a:pPr algn="l">
                        <a:lnSpc>
                          <a:spcPts val="3149"/>
                        </a:lnSpc>
                        <a:defRPr/>
                      </a:pPr>
                      <a:r>
                        <a:rPr lang="en-US" sz="2250">
                          <a:solidFill>
                            <a:srgbClr val="1A1A1A"/>
                          </a:solidFill>
                          <a:latin typeface="Carlito"/>
                          <a:ea typeface="Carlito"/>
                          <a:cs typeface="Carlito"/>
                          <a:sym typeface="Carlito"/>
                        </a:rPr>
                        <a:t>Inconsistencies</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149"/>
                        </a:lnSpc>
                        <a:defRPr/>
                      </a:pPr>
                      <a:r>
                        <a:rPr lang="en-US" sz="2250">
                          <a:solidFill>
                            <a:srgbClr val="1A1A1A"/>
                          </a:solidFill>
                          <a:latin typeface="Carlito"/>
                          <a:ea typeface="Carlito"/>
                          <a:cs typeface="Carlito"/>
                          <a:sym typeface="Carlito"/>
                        </a:rPr>
                        <a:t>None, after SQL checks on every column (negative amounts, hours outside 0–23, fractions outside 0–1, unknown KYC tiers)</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149"/>
                        </a:lnSpc>
                        <a:defRPr/>
                      </a:pPr>
                      <a:r>
                        <a:rPr lang="en-US" sz="2250">
                          <a:solidFill>
                            <a:srgbClr val="1A1A1A"/>
                          </a:solidFill>
                          <a:latin typeface="Carlito"/>
                          <a:ea typeface="Carlito"/>
                          <a:cs typeface="Carlito"/>
                          <a:sym typeface="Carlito"/>
                        </a:rPr>
                        <a:t>Nothing to fix</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1785140">
                <a:tc>
                  <a:txBody>
                    <a:bodyPr anchor="t" rtlCol="false"/>
                    <a:lstStyle/>
                    <a:p>
                      <a:pPr algn="l">
                        <a:lnSpc>
                          <a:spcPts val="3149"/>
                        </a:lnSpc>
                        <a:defRPr/>
                      </a:pPr>
                      <a:r>
                        <a:rPr lang="en-US" sz="2250">
                          <a:solidFill>
                            <a:srgbClr val="1A1A1A"/>
                          </a:solidFill>
                          <a:latin typeface="Carlito"/>
                          <a:ea typeface="Carlito"/>
                          <a:cs typeface="Carlito"/>
                          <a:sym typeface="Carlito"/>
                        </a:rPr>
                        <a:t>Outliers</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149"/>
                        </a:lnSpc>
                        <a:defRPr/>
                      </a:pPr>
                      <a:r>
                        <a:rPr lang="en-US" sz="2250">
                          <a:solidFill>
                            <a:srgbClr val="1A1A1A"/>
                          </a:solidFill>
                          <a:latin typeface="Carlito"/>
                          <a:ea typeface="Carlito"/>
                          <a:cs typeface="Carlito"/>
                          <a:sym typeface="Carlito"/>
                        </a:rPr>
                        <a:t>Many with the IQR rule (49 in amount, 103 in balance change)</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149"/>
                        </a:lnSpc>
                        <a:defRPr/>
                      </a:pPr>
                      <a:r>
                        <a:rPr lang="en-US" sz="2250">
                          <a:solidFill>
                            <a:srgbClr val="1A1A1A"/>
                          </a:solidFill>
                          <a:latin typeface="Carlito"/>
                          <a:ea typeface="Carlito"/>
                          <a:cs typeface="Carlito"/>
                          <a:sym typeface="Carlito"/>
                        </a:rPr>
                        <a:t>Kept them: fraud is often unusual and the values are valid</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bl>
          </a:graphicData>
        </a:graphic>
      </p:graphicFrame>
      <p:sp>
        <p:nvSpPr>
          <p:cNvPr name="Freeform 3" id="3"/>
          <p:cNvSpPr/>
          <p:nvPr/>
        </p:nvSpPr>
        <p:spPr>
          <a:xfrm flipH="false" flipV="false" rot="0">
            <a:off x="11099386" y="2658031"/>
            <a:ext cx="6884135" cy="5258470"/>
          </a:xfrm>
          <a:custGeom>
            <a:avLst/>
            <a:gdLst/>
            <a:ahLst/>
            <a:cxnLst/>
            <a:rect r="r" b="b" t="t" l="l"/>
            <a:pathLst>
              <a:path h="5258470" w="6884135">
                <a:moveTo>
                  <a:pt x="0" y="0"/>
                </a:moveTo>
                <a:lnTo>
                  <a:pt x="6884136" y="0"/>
                </a:lnTo>
                <a:lnTo>
                  <a:pt x="6884136" y="5258470"/>
                </a:lnTo>
                <a:lnTo>
                  <a:pt x="0" y="5258470"/>
                </a:lnTo>
                <a:lnTo>
                  <a:pt x="0" y="0"/>
                </a:lnTo>
                <a:close/>
              </a:path>
            </a:pathLst>
          </a:custGeom>
          <a:blipFill>
            <a:blip r:embed="rId3"/>
            <a:stretch>
              <a:fillRect l="0" t="0" r="0" b="0"/>
            </a:stretch>
          </a:blipFill>
        </p:spPr>
      </p:sp>
      <p:sp>
        <p:nvSpPr>
          <p:cNvPr name="TextBox 4" id="4"/>
          <p:cNvSpPr txBox="true"/>
          <p:nvPr/>
        </p:nvSpPr>
        <p:spPr>
          <a:xfrm rot="0">
            <a:off x="1219200" y="990600"/>
            <a:ext cx="16325088" cy="1036244"/>
          </a:xfrm>
          <a:prstGeom prst="rect">
            <a:avLst/>
          </a:prstGeom>
        </p:spPr>
        <p:txBody>
          <a:bodyPr anchor="t" rtlCol="false" tIns="0" lIns="0" bIns="0" rIns="0">
            <a:spAutoFit/>
          </a:bodyPr>
          <a:lstStyle/>
          <a:p>
            <a:pPr algn="l">
              <a:lnSpc>
                <a:spcPts val="7260"/>
              </a:lnSpc>
            </a:pPr>
            <a:r>
              <a:rPr lang="en-US" sz="6600">
                <a:solidFill>
                  <a:srgbClr val="1A1A1A"/>
                </a:solidFill>
                <a:latin typeface="Carlito"/>
                <a:ea typeface="Carlito"/>
                <a:cs typeface="Carlito"/>
                <a:sym typeface="Carlito"/>
              </a:rPr>
              <a:t>Data Cleaning</a:t>
            </a:r>
          </a:p>
        </p:txBody>
      </p:sp>
      <p:sp>
        <p:nvSpPr>
          <p:cNvPr name="TextBox 5" id="5"/>
          <p:cNvSpPr txBox="true"/>
          <p:nvPr/>
        </p:nvSpPr>
        <p:spPr>
          <a:xfrm rot="0">
            <a:off x="368312" y="1922069"/>
            <a:ext cx="16260318" cy="561975"/>
          </a:xfrm>
          <a:prstGeom prst="rect">
            <a:avLst/>
          </a:prstGeom>
        </p:spPr>
        <p:txBody>
          <a:bodyPr anchor="t" rtlCol="false" tIns="0" lIns="0" bIns="0" rIns="0">
            <a:spAutoFit/>
          </a:bodyPr>
          <a:lstStyle/>
          <a:p>
            <a:pPr algn="l" marL="542925" indent="-271462" lvl="1">
              <a:lnSpc>
                <a:spcPts val="4050"/>
              </a:lnSpc>
              <a:buFont typeface="Arial"/>
              <a:buChar char="•"/>
            </a:pPr>
            <a:r>
              <a:rPr lang="en-US" sz="3000">
                <a:solidFill>
                  <a:srgbClr val="1A1A1A"/>
                </a:solidFill>
                <a:latin typeface="Carlito"/>
                <a:ea typeface="Carlito"/>
                <a:cs typeface="Carlito"/>
                <a:sym typeface="Carlito"/>
              </a:rPr>
              <a:t>400 transactions, 16 features, 175 fraud and 225 clean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533263" y="0"/>
            <a:ext cx="11200477" cy="10409322"/>
          </a:xfrm>
          <a:custGeom>
            <a:avLst/>
            <a:gdLst/>
            <a:ahLst/>
            <a:cxnLst/>
            <a:rect r="r" b="b" t="t" l="l"/>
            <a:pathLst>
              <a:path h="10409322" w="11200477">
                <a:moveTo>
                  <a:pt x="0" y="0"/>
                </a:moveTo>
                <a:lnTo>
                  <a:pt x="11200477" y="0"/>
                </a:lnTo>
                <a:lnTo>
                  <a:pt x="11200477" y="10409322"/>
                </a:lnTo>
                <a:lnTo>
                  <a:pt x="0" y="10409322"/>
                </a:lnTo>
                <a:lnTo>
                  <a:pt x="0" y="0"/>
                </a:lnTo>
                <a:close/>
              </a:path>
            </a:pathLst>
          </a:custGeom>
          <a:blipFill>
            <a:blip r:embed="rId3"/>
            <a:stretch>
              <a:fillRect l="-424" t="-543" r="-3958" b="-26064"/>
            </a:stretch>
          </a:blipFill>
        </p:spPr>
      </p:sp>
      <p:sp>
        <p:nvSpPr>
          <p:cNvPr name="Freeform 3" id="3"/>
          <p:cNvSpPr/>
          <p:nvPr/>
        </p:nvSpPr>
        <p:spPr>
          <a:xfrm flipH="false" flipV="false" rot="0">
            <a:off x="0" y="3271005"/>
            <a:ext cx="7780462" cy="6807904"/>
          </a:xfrm>
          <a:custGeom>
            <a:avLst/>
            <a:gdLst/>
            <a:ahLst/>
            <a:cxnLst/>
            <a:rect r="r" b="b" t="t" l="l"/>
            <a:pathLst>
              <a:path h="6807904" w="7780462">
                <a:moveTo>
                  <a:pt x="0" y="0"/>
                </a:moveTo>
                <a:lnTo>
                  <a:pt x="7780462" y="0"/>
                </a:lnTo>
                <a:lnTo>
                  <a:pt x="7780462" y="6807903"/>
                </a:lnTo>
                <a:lnTo>
                  <a:pt x="0" y="6807903"/>
                </a:lnTo>
                <a:lnTo>
                  <a:pt x="0" y="0"/>
                </a:lnTo>
                <a:close/>
              </a:path>
            </a:pathLst>
          </a:custGeom>
          <a:blipFill>
            <a:blip r:embed="rId4"/>
            <a:stretch>
              <a:fillRect l="0" t="0" r="-2" b="-2"/>
            </a:stretch>
          </a:blipFill>
        </p:spPr>
      </p:sp>
      <p:sp>
        <p:nvSpPr>
          <p:cNvPr name="TextBox 4" id="4"/>
          <p:cNvSpPr txBox="true"/>
          <p:nvPr/>
        </p:nvSpPr>
        <p:spPr>
          <a:xfrm rot="0">
            <a:off x="-93289" y="11726"/>
            <a:ext cx="6319333" cy="845067"/>
          </a:xfrm>
          <a:prstGeom prst="rect">
            <a:avLst/>
          </a:prstGeom>
        </p:spPr>
        <p:txBody>
          <a:bodyPr anchor="t" rtlCol="false" tIns="0" lIns="0" bIns="0" rIns="0">
            <a:spAutoFit/>
          </a:bodyPr>
          <a:lstStyle/>
          <a:p>
            <a:pPr algn="ctr">
              <a:lnSpc>
                <a:spcPts val="6922"/>
              </a:lnSpc>
            </a:pPr>
            <a:r>
              <a:rPr lang="en-US" sz="4944" b="true">
                <a:solidFill>
                  <a:srgbClr val="000000"/>
                </a:solidFill>
                <a:latin typeface="Canva Sans Bold"/>
                <a:ea typeface="Canva Sans Bold"/>
                <a:cs typeface="Canva Sans Bold"/>
                <a:sym typeface="Canva Sans Bold"/>
              </a:rPr>
              <a:t>Data flow diagram</a:t>
            </a:r>
          </a:p>
        </p:txBody>
      </p:sp>
      <p:sp>
        <p:nvSpPr>
          <p:cNvPr name="TextBox 5" id="5"/>
          <p:cNvSpPr txBox="true"/>
          <p:nvPr/>
        </p:nvSpPr>
        <p:spPr>
          <a:xfrm rot="0">
            <a:off x="0" y="1161594"/>
            <a:ext cx="6677471" cy="1700199"/>
          </a:xfrm>
          <a:prstGeom prst="rect">
            <a:avLst/>
          </a:prstGeom>
        </p:spPr>
        <p:txBody>
          <a:bodyPr anchor="t" rtlCol="false" tIns="0" lIns="0" bIns="0" rIns="0">
            <a:spAutoFit/>
          </a:bodyPr>
          <a:lstStyle/>
          <a:p>
            <a:pPr algn="l" marL="701825" indent="-350913" lvl="1">
              <a:lnSpc>
                <a:spcPts val="4388"/>
              </a:lnSpc>
              <a:spcBef>
                <a:spcPct val="0"/>
              </a:spcBef>
              <a:buFont typeface="Arial"/>
              <a:buChar char="•"/>
            </a:pPr>
            <a:r>
              <a:rPr lang="en-US" b="true" sz="3250">
                <a:solidFill>
                  <a:srgbClr val="000000"/>
                </a:solidFill>
                <a:latin typeface="Carlito Bold"/>
                <a:ea typeface="Carlito Bold"/>
                <a:cs typeface="Carlito Bold"/>
                <a:sym typeface="Carlito Bold"/>
              </a:rPr>
              <a:t>Raw</a:t>
            </a:r>
            <a:r>
              <a:rPr lang="en-US" b="true" sz="3250">
                <a:solidFill>
                  <a:srgbClr val="000000"/>
                </a:solidFill>
                <a:latin typeface="Carlito Bold"/>
                <a:ea typeface="Carlito Bold"/>
                <a:cs typeface="Carlito Bold"/>
                <a:sym typeface="Carlito Bold"/>
              </a:rPr>
              <a:t> data: 400 flagged transactions</a:t>
            </a:r>
          </a:p>
          <a:p>
            <a:pPr algn="l">
              <a:lnSpc>
                <a:spcPts val="4388"/>
              </a:lnSpc>
              <a:spcBef>
                <a:spcPct val="0"/>
              </a:spcBef>
            </a:pPr>
          </a:p>
          <a:p>
            <a:pPr algn="l" marL="701825" indent="-350913" lvl="1">
              <a:lnSpc>
                <a:spcPts val="4388"/>
              </a:lnSpc>
              <a:spcBef>
                <a:spcPct val="0"/>
              </a:spcBef>
              <a:buFont typeface="Arial"/>
              <a:buChar char="•"/>
            </a:pPr>
            <a:r>
              <a:rPr lang="en-US" b="true" sz="3250">
                <a:solidFill>
                  <a:srgbClr val="000000"/>
                </a:solidFill>
                <a:latin typeface="Carlito Bold"/>
                <a:ea typeface="Carlito Bold"/>
                <a:cs typeface="Carlito Bold"/>
                <a:sym typeface="Carlito Bold"/>
              </a:rPr>
              <a:t>Analyst makes the final decision</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19200" y="990600"/>
            <a:ext cx="12203411" cy="1136650"/>
          </a:xfrm>
          <a:prstGeom prst="rect">
            <a:avLst/>
          </a:prstGeom>
        </p:spPr>
        <p:txBody>
          <a:bodyPr anchor="t" rtlCol="false" tIns="0" lIns="0" bIns="0" rIns="0">
            <a:spAutoFit/>
          </a:bodyPr>
          <a:lstStyle/>
          <a:p>
            <a:pPr algn="l">
              <a:lnSpc>
                <a:spcPts val="7699"/>
              </a:lnSpc>
            </a:pPr>
            <a:r>
              <a:rPr lang="en-US" sz="6999" b="true">
                <a:solidFill>
                  <a:srgbClr val="1A1A1A"/>
                </a:solidFill>
                <a:latin typeface="Carlito Bold"/>
                <a:ea typeface="Carlito Bold"/>
                <a:cs typeface="Carlito Bold"/>
                <a:sym typeface="Carlito Bold"/>
              </a:rPr>
              <a:t>Machine Learning: KNN Classifier</a:t>
            </a:r>
          </a:p>
        </p:txBody>
      </p:sp>
      <p:sp>
        <p:nvSpPr>
          <p:cNvPr name="TextBox 3" id="3"/>
          <p:cNvSpPr txBox="true"/>
          <p:nvPr/>
        </p:nvSpPr>
        <p:spPr>
          <a:xfrm rot="0">
            <a:off x="1028700" y="2612025"/>
            <a:ext cx="9055227" cy="2419350"/>
          </a:xfrm>
          <a:prstGeom prst="rect">
            <a:avLst/>
          </a:prstGeom>
        </p:spPr>
        <p:txBody>
          <a:bodyPr anchor="t" rtlCol="false" tIns="0" lIns="0" bIns="0" rIns="0">
            <a:spAutoFit/>
          </a:bodyPr>
          <a:lstStyle/>
          <a:p>
            <a:pPr algn="l" marL="633410" indent="-316705" lvl="1">
              <a:lnSpc>
                <a:spcPts val="4724"/>
              </a:lnSpc>
              <a:buFont typeface="Arial"/>
              <a:buChar char="•"/>
            </a:pPr>
            <a:r>
              <a:rPr lang="en-US" sz="3499">
                <a:solidFill>
                  <a:srgbClr val="404040"/>
                </a:solidFill>
                <a:latin typeface="Carlito"/>
                <a:ea typeface="Carlito"/>
                <a:cs typeface="Carlito"/>
                <a:sym typeface="Carlito"/>
              </a:rPr>
              <a:t>K-nearest neighbours, k = 3</a:t>
            </a:r>
          </a:p>
          <a:p>
            <a:pPr algn="l" marL="633410" indent="-316705" lvl="1">
              <a:lnSpc>
                <a:spcPts val="4724"/>
              </a:lnSpc>
              <a:buFont typeface="Arial"/>
              <a:buChar char="•"/>
            </a:pPr>
            <a:r>
              <a:rPr lang="en-US" sz="3499">
                <a:solidFill>
                  <a:srgbClr val="404040"/>
                </a:solidFill>
                <a:latin typeface="Carlito"/>
                <a:ea typeface="Carlito"/>
                <a:cs typeface="Carlito"/>
                <a:sym typeface="Carlito"/>
              </a:rPr>
              <a:t>Features scaled, 80% train and 20% test</a:t>
            </a:r>
          </a:p>
          <a:p>
            <a:pPr algn="l" marL="633410" indent="-316705" lvl="1">
              <a:lnSpc>
                <a:spcPts val="4724"/>
              </a:lnSpc>
              <a:buFont typeface="Arial"/>
              <a:buChar char="•"/>
            </a:pPr>
            <a:r>
              <a:rPr lang="en-US" sz="3499">
                <a:solidFill>
                  <a:srgbClr val="404040"/>
                </a:solidFill>
                <a:latin typeface="Carlito"/>
                <a:ea typeface="Carlito"/>
                <a:cs typeface="Carlito"/>
                <a:sym typeface="Carlito"/>
              </a:rPr>
              <a:t>5 features: amount, wallet age, time between transactions, spread of that time, KYC tier</a:t>
            </a:r>
          </a:p>
        </p:txBody>
      </p:sp>
      <p:sp>
        <p:nvSpPr>
          <p:cNvPr name="TextBox 4" id="4"/>
          <p:cNvSpPr txBox="true"/>
          <p:nvPr/>
        </p:nvSpPr>
        <p:spPr>
          <a:xfrm rot="0">
            <a:off x="1219200" y="5903305"/>
            <a:ext cx="9418320" cy="890271"/>
          </a:xfrm>
          <a:prstGeom prst="rect">
            <a:avLst/>
          </a:prstGeom>
        </p:spPr>
        <p:txBody>
          <a:bodyPr anchor="t" rtlCol="false" tIns="0" lIns="0" bIns="0" rIns="0">
            <a:spAutoFit/>
          </a:bodyPr>
          <a:lstStyle/>
          <a:p>
            <a:pPr algn="l">
              <a:lnSpc>
                <a:spcPts val="6579"/>
              </a:lnSpc>
            </a:pPr>
            <a:r>
              <a:rPr lang="en-US" sz="4699" b="true">
                <a:solidFill>
                  <a:srgbClr val="1A1A1A"/>
                </a:solidFill>
                <a:latin typeface="Carlito Bold"/>
                <a:ea typeface="Carlito Bold"/>
                <a:cs typeface="Carlito Bold"/>
                <a:sym typeface="Carlito Bold"/>
              </a:rPr>
              <a:t>How we chose the features</a:t>
            </a:r>
          </a:p>
        </p:txBody>
      </p:sp>
      <p:sp>
        <p:nvSpPr>
          <p:cNvPr name="TextBox 5" id="5"/>
          <p:cNvSpPr txBox="true"/>
          <p:nvPr/>
        </p:nvSpPr>
        <p:spPr>
          <a:xfrm rot="0">
            <a:off x="1219200" y="7140361"/>
            <a:ext cx="9418320" cy="630556"/>
          </a:xfrm>
          <a:prstGeom prst="rect">
            <a:avLst/>
          </a:prstGeom>
        </p:spPr>
        <p:txBody>
          <a:bodyPr anchor="t" rtlCol="false" tIns="0" lIns="0" bIns="0" rIns="0">
            <a:spAutoFit/>
          </a:bodyPr>
          <a:lstStyle/>
          <a:p>
            <a:pPr algn="l">
              <a:lnSpc>
                <a:spcPts val="4619"/>
              </a:lnSpc>
            </a:pPr>
            <a:r>
              <a:rPr lang="en-US" sz="3299">
                <a:solidFill>
                  <a:srgbClr val="1A1A1A"/>
                </a:solidFill>
                <a:latin typeface="Carlito"/>
                <a:ea typeface="Carlito"/>
                <a:cs typeface="Carlito"/>
                <a:sym typeface="Carlito"/>
              </a:rPr>
              <a:t>1. Compared the averages of fraud and clean</a:t>
            </a:r>
          </a:p>
        </p:txBody>
      </p:sp>
      <p:sp>
        <p:nvSpPr>
          <p:cNvPr name="TextBox 6" id="6"/>
          <p:cNvSpPr txBox="true"/>
          <p:nvPr/>
        </p:nvSpPr>
        <p:spPr>
          <a:xfrm rot="0">
            <a:off x="1768602" y="7675666"/>
            <a:ext cx="8868918" cy="561976"/>
          </a:xfrm>
          <a:prstGeom prst="rect">
            <a:avLst/>
          </a:prstGeom>
        </p:spPr>
        <p:txBody>
          <a:bodyPr anchor="t" rtlCol="false" tIns="0" lIns="0" bIns="0" rIns="0">
            <a:spAutoFit/>
          </a:bodyPr>
          <a:lstStyle/>
          <a:p>
            <a:pPr algn="l">
              <a:lnSpc>
                <a:spcPts val="4199"/>
              </a:lnSpc>
            </a:pPr>
            <a:r>
              <a:rPr lang="en-US" sz="2999">
                <a:solidFill>
                  <a:srgbClr val="404040"/>
                </a:solidFill>
                <a:latin typeface="Carlito"/>
                <a:ea typeface="Carlito"/>
                <a:cs typeface="Carlito"/>
                <a:sym typeface="Carlito"/>
              </a:rPr>
              <a:t>With SQL, for every column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98102" y="448591"/>
            <a:ext cx="12016903" cy="7450889"/>
          </a:xfrm>
          <a:custGeom>
            <a:avLst/>
            <a:gdLst/>
            <a:ahLst/>
            <a:cxnLst/>
            <a:rect r="r" b="b" t="t" l="l"/>
            <a:pathLst>
              <a:path h="7450889" w="12016903">
                <a:moveTo>
                  <a:pt x="0" y="0"/>
                </a:moveTo>
                <a:lnTo>
                  <a:pt x="12016904" y="0"/>
                </a:lnTo>
                <a:lnTo>
                  <a:pt x="12016904" y="7450889"/>
                </a:lnTo>
                <a:lnTo>
                  <a:pt x="0" y="7450889"/>
                </a:lnTo>
                <a:lnTo>
                  <a:pt x="0" y="0"/>
                </a:lnTo>
                <a:close/>
              </a:path>
            </a:pathLst>
          </a:custGeom>
          <a:blipFill>
            <a:blip r:embed="rId2"/>
            <a:stretch>
              <a:fillRect l="-125" t="-1097" r="-125" b="0"/>
            </a:stretch>
          </a:blipFill>
        </p:spPr>
      </p:sp>
      <p:sp>
        <p:nvSpPr>
          <p:cNvPr name="Freeform 3" id="3"/>
          <p:cNvSpPr/>
          <p:nvPr/>
        </p:nvSpPr>
        <p:spPr>
          <a:xfrm flipH="false" flipV="false" rot="0">
            <a:off x="312944" y="8089975"/>
            <a:ext cx="17662112" cy="1335697"/>
          </a:xfrm>
          <a:custGeom>
            <a:avLst/>
            <a:gdLst/>
            <a:ahLst/>
            <a:cxnLst/>
            <a:rect r="r" b="b" t="t" l="l"/>
            <a:pathLst>
              <a:path h="1335697" w="17662112">
                <a:moveTo>
                  <a:pt x="0" y="0"/>
                </a:moveTo>
                <a:lnTo>
                  <a:pt x="17662112" y="0"/>
                </a:lnTo>
                <a:lnTo>
                  <a:pt x="17662112" y="1335697"/>
                </a:lnTo>
                <a:lnTo>
                  <a:pt x="0" y="1335697"/>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69845" y="1660099"/>
            <a:ext cx="11830509" cy="6324865"/>
          </a:xfrm>
          <a:custGeom>
            <a:avLst/>
            <a:gdLst/>
            <a:ahLst/>
            <a:cxnLst/>
            <a:rect r="r" b="b" t="t" l="l"/>
            <a:pathLst>
              <a:path h="6324865" w="11830509">
                <a:moveTo>
                  <a:pt x="0" y="0"/>
                </a:moveTo>
                <a:lnTo>
                  <a:pt x="11830509" y="0"/>
                </a:lnTo>
                <a:lnTo>
                  <a:pt x="11830509" y="6324865"/>
                </a:lnTo>
                <a:lnTo>
                  <a:pt x="0" y="6324865"/>
                </a:lnTo>
                <a:lnTo>
                  <a:pt x="0" y="0"/>
                </a:lnTo>
                <a:close/>
              </a:path>
            </a:pathLst>
          </a:custGeom>
          <a:blipFill>
            <a:blip r:embed="rId2"/>
            <a:stretch>
              <a:fillRect l="0" t="0" r="0" b="0"/>
            </a:stretch>
          </a:blipFill>
        </p:spPr>
      </p:sp>
      <p:sp>
        <p:nvSpPr>
          <p:cNvPr name="Freeform 3" id="3"/>
          <p:cNvSpPr/>
          <p:nvPr/>
        </p:nvSpPr>
        <p:spPr>
          <a:xfrm flipH="false" flipV="false" rot="0">
            <a:off x="13070425" y="1660099"/>
            <a:ext cx="5805231" cy="785186"/>
          </a:xfrm>
          <a:custGeom>
            <a:avLst/>
            <a:gdLst/>
            <a:ahLst/>
            <a:cxnLst/>
            <a:rect r="r" b="b" t="t" l="l"/>
            <a:pathLst>
              <a:path h="785186" w="5805231">
                <a:moveTo>
                  <a:pt x="0" y="0"/>
                </a:moveTo>
                <a:lnTo>
                  <a:pt x="5805231" y="0"/>
                </a:lnTo>
                <a:lnTo>
                  <a:pt x="5805231" y="785187"/>
                </a:lnTo>
                <a:lnTo>
                  <a:pt x="0" y="785187"/>
                </a:lnTo>
                <a:lnTo>
                  <a:pt x="0" y="0"/>
                </a:lnTo>
                <a:close/>
              </a:path>
            </a:pathLst>
          </a:custGeom>
          <a:blipFill>
            <a:blip r:embed="rId3"/>
            <a:stretch>
              <a:fillRect l="0" t="0" r="0" b="0"/>
            </a:stretch>
          </a:blipFill>
        </p:spPr>
      </p:sp>
      <p:sp>
        <p:nvSpPr>
          <p:cNvPr name="TextBox 4" id="4"/>
          <p:cNvSpPr txBox="true"/>
          <p:nvPr/>
        </p:nvSpPr>
        <p:spPr>
          <a:xfrm rot="0">
            <a:off x="769845" y="439140"/>
            <a:ext cx="9418320" cy="630556"/>
          </a:xfrm>
          <a:prstGeom prst="rect">
            <a:avLst/>
          </a:prstGeom>
        </p:spPr>
        <p:txBody>
          <a:bodyPr anchor="t" rtlCol="false" tIns="0" lIns="0" bIns="0" rIns="0">
            <a:spAutoFit/>
          </a:bodyPr>
          <a:lstStyle/>
          <a:p>
            <a:pPr algn="l">
              <a:lnSpc>
                <a:spcPts val="4619"/>
              </a:lnSpc>
            </a:pPr>
            <a:r>
              <a:rPr lang="en-US" sz="3299">
                <a:solidFill>
                  <a:srgbClr val="1A1A1A"/>
                </a:solidFill>
                <a:latin typeface="Carlito"/>
                <a:ea typeface="Carlito"/>
                <a:cs typeface="Carlito"/>
                <a:sym typeface="Carlito"/>
              </a:rPr>
              <a:t>2. Kept the columns with a clear difference</a:t>
            </a:r>
          </a:p>
        </p:txBody>
      </p:sp>
      <p:sp>
        <p:nvSpPr>
          <p:cNvPr name="TextBox 5" id="5"/>
          <p:cNvSpPr txBox="true"/>
          <p:nvPr/>
        </p:nvSpPr>
        <p:spPr>
          <a:xfrm rot="0">
            <a:off x="1303245" y="922934"/>
            <a:ext cx="8868918" cy="561976"/>
          </a:xfrm>
          <a:prstGeom prst="rect">
            <a:avLst/>
          </a:prstGeom>
        </p:spPr>
        <p:txBody>
          <a:bodyPr anchor="t" rtlCol="false" tIns="0" lIns="0" bIns="0" rIns="0">
            <a:spAutoFit/>
          </a:bodyPr>
          <a:lstStyle/>
          <a:p>
            <a:pPr algn="l">
              <a:lnSpc>
                <a:spcPts val="4199"/>
              </a:lnSpc>
            </a:pPr>
            <a:r>
              <a:rPr lang="en-US" sz="2999">
                <a:solidFill>
                  <a:srgbClr val="404040"/>
                </a:solidFill>
                <a:latin typeface="Carlito"/>
                <a:ea typeface="Carlito"/>
                <a:cs typeface="Carlito"/>
                <a:sym typeface="Carlito"/>
              </a:rPr>
              <a:t>These were our candidates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69845" y="1660099"/>
            <a:ext cx="11830509" cy="6324865"/>
          </a:xfrm>
          <a:custGeom>
            <a:avLst/>
            <a:gdLst/>
            <a:ahLst/>
            <a:cxnLst/>
            <a:rect r="r" b="b" t="t" l="l"/>
            <a:pathLst>
              <a:path h="6324865" w="11830509">
                <a:moveTo>
                  <a:pt x="0" y="0"/>
                </a:moveTo>
                <a:lnTo>
                  <a:pt x="11830509" y="0"/>
                </a:lnTo>
                <a:lnTo>
                  <a:pt x="11830509" y="6324865"/>
                </a:lnTo>
                <a:lnTo>
                  <a:pt x="0" y="6324865"/>
                </a:lnTo>
                <a:lnTo>
                  <a:pt x="0" y="0"/>
                </a:lnTo>
                <a:close/>
              </a:path>
            </a:pathLst>
          </a:custGeom>
          <a:blipFill>
            <a:blip r:embed="rId2"/>
            <a:stretch>
              <a:fillRect l="0" t="0" r="0" b="0"/>
            </a:stretch>
          </a:blipFill>
        </p:spPr>
      </p:sp>
      <p:sp>
        <p:nvSpPr>
          <p:cNvPr name="Freeform 3" id="3"/>
          <p:cNvSpPr/>
          <p:nvPr/>
        </p:nvSpPr>
        <p:spPr>
          <a:xfrm flipH="false" flipV="false" rot="-271282">
            <a:off x="-279856" y="8549495"/>
            <a:ext cx="6644869" cy="958937"/>
          </a:xfrm>
          <a:custGeom>
            <a:avLst/>
            <a:gdLst/>
            <a:ahLst/>
            <a:cxnLst/>
            <a:rect r="r" b="b" t="t" l="l"/>
            <a:pathLst>
              <a:path h="958937" w="6644869">
                <a:moveTo>
                  <a:pt x="0" y="0"/>
                </a:moveTo>
                <a:lnTo>
                  <a:pt x="6644869" y="0"/>
                </a:lnTo>
                <a:lnTo>
                  <a:pt x="6644869" y="958937"/>
                </a:lnTo>
                <a:lnTo>
                  <a:pt x="0" y="958937"/>
                </a:lnTo>
                <a:lnTo>
                  <a:pt x="0" y="0"/>
                </a:lnTo>
                <a:close/>
              </a:path>
            </a:pathLst>
          </a:custGeom>
          <a:blipFill>
            <a:blip r:embed="rId3"/>
            <a:stretch>
              <a:fillRect l="0" t="0" r="0" b="0"/>
            </a:stretch>
          </a:blipFill>
        </p:spPr>
      </p:sp>
      <p:sp>
        <p:nvSpPr>
          <p:cNvPr name="Freeform 4" id="4"/>
          <p:cNvSpPr/>
          <p:nvPr/>
        </p:nvSpPr>
        <p:spPr>
          <a:xfrm flipH="false" flipV="false" rot="0">
            <a:off x="13070425" y="1660099"/>
            <a:ext cx="5805231" cy="785186"/>
          </a:xfrm>
          <a:custGeom>
            <a:avLst/>
            <a:gdLst/>
            <a:ahLst/>
            <a:cxnLst/>
            <a:rect r="r" b="b" t="t" l="l"/>
            <a:pathLst>
              <a:path h="785186" w="5805231">
                <a:moveTo>
                  <a:pt x="0" y="0"/>
                </a:moveTo>
                <a:lnTo>
                  <a:pt x="5805231" y="0"/>
                </a:lnTo>
                <a:lnTo>
                  <a:pt x="5805231" y="785187"/>
                </a:lnTo>
                <a:lnTo>
                  <a:pt x="0" y="785187"/>
                </a:lnTo>
                <a:lnTo>
                  <a:pt x="0" y="0"/>
                </a:lnTo>
                <a:close/>
              </a:path>
            </a:pathLst>
          </a:custGeom>
          <a:blipFill>
            <a:blip r:embed="rId4"/>
            <a:stretch>
              <a:fillRect l="0" t="0" r="0" b="0"/>
            </a:stretch>
          </a:blipFill>
        </p:spPr>
      </p:sp>
      <p:sp>
        <p:nvSpPr>
          <p:cNvPr name="TextBox 5" id="5"/>
          <p:cNvSpPr txBox="true"/>
          <p:nvPr/>
        </p:nvSpPr>
        <p:spPr>
          <a:xfrm rot="0">
            <a:off x="769845" y="439140"/>
            <a:ext cx="9418320" cy="630556"/>
          </a:xfrm>
          <a:prstGeom prst="rect">
            <a:avLst/>
          </a:prstGeom>
        </p:spPr>
        <p:txBody>
          <a:bodyPr anchor="t" rtlCol="false" tIns="0" lIns="0" bIns="0" rIns="0">
            <a:spAutoFit/>
          </a:bodyPr>
          <a:lstStyle/>
          <a:p>
            <a:pPr algn="l">
              <a:lnSpc>
                <a:spcPts val="4619"/>
              </a:lnSpc>
            </a:pPr>
            <a:r>
              <a:rPr lang="en-US" sz="3299">
                <a:solidFill>
                  <a:srgbClr val="1A1A1A"/>
                </a:solidFill>
                <a:latin typeface="Carlito"/>
                <a:ea typeface="Carlito"/>
                <a:cs typeface="Carlito"/>
                <a:sym typeface="Carlito"/>
              </a:rPr>
              <a:t>2. Kept the columns with a clear difference</a:t>
            </a:r>
          </a:p>
        </p:txBody>
      </p:sp>
      <p:sp>
        <p:nvSpPr>
          <p:cNvPr name="TextBox 6" id="6"/>
          <p:cNvSpPr txBox="true"/>
          <p:nvPr/>
        </p:nvSpPr>
        <p:spPr>
          <a:xfrm rot="0">
            <a:off x="1303245" y="922934"/>
            <a:ext cx="8868918" cy="561976"/>
          </a:xfrm>
          <a:prstGeom prst="rect">
            <a:avLst/>
          </a:prstGeom>
        </p:spPr>
        <p:txBody>
          <a:bodyPr anchor="t" rtlCol="false" tIns="0" lIns="0" bIns="0" rIns="0">
            <a:spAutoFit/>
          </a:bodyPr>
          <a:lstStyle/>
          <a:p>
            <a:pPr algn="l">
              <a:lnSpc>
                <a:spcPts val="4199"/>
              </a:lnSpc>
            </a:pPr>
            <a:r>
              <a:rPr lang="en-US" sz="2999">
                <a:solidFill>
                  <a:srgbClr val="404040"/>
                </a:solidFill>
                <a:latin typeface="Carlito"/>
                <a:ea typeface="Carlito"/>
                <a:cs typeface="Carlito"/>
                <a:sym typeface="Carlito"/>
              </a:rPr>
              <a:t>These were our candidates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69845" y="1660099"/>
            <a:ext cx="11830509" cy="6324865"/>
          </a:xfrm>
          <a:custGeom>
            <a:avLst/>
            <a:gdLst/>
            <a:ahLst/>
            <a:cxnLst/>
            <a:rect r="r" b="b" t="t" l="l"/>
            <a:pathLst>
              <a:path h="6324865" w="11830509">
                <a:moveTo>
                  <a:pt x="0" y="0"/>
                </a:moveTo>
                <a:lnTo>
                  <a:pt x="11830509" y="0"/>
                </a:lnTo>
                <a:lnTo>
                  <a:pt x="11830509" y="6324865"/>
                </a:lnTo>
                <a:lnTo>
                  <a:pt x="0" y="6324865"/>
                </a:lnTo>
                <a:lnTo>
                  <a:pt x="0" y="0"/>
                </a:lnTo>
                <a:close/>
              </a:path>
            </a:pathLst>
          </a:custGeom>
          <a:blipFill>
            <a:blip r:embed="rId2"/>
            <a:stretch>
              <a:fillRect l="0" t="0" r="0" b="0"/>
            </a:stretch>
          </a:blipFill>
        </p:spPr>
      </p:sp>
      <p:sp>
        <p:nvSpPr>
          <p:cNvPr name="Freeform 3" id="3"/>
          <p:cNvSpPr/>
          <p:nvPr/>
        </p:nvSpPr>
        <p:spPr>
          <a:xfrm flipH="false" flipV="false" rot="-271282">
            <a:off x="-279856" y="8549495"/>
            <a:ext cx="6644869" cy="958937"/>
          </a:xfrm>
          <a:custGeom>
            <a:avLst/>
            <a:gdLst/>
            <a:ahLst/>
            <a:cxnLst/>
            <a:rect r="r" b="b" t="t" l="l"/>
            <a:pathLst>
              <a:path h="958937" w="6644869">
                <a:moveTo>
                  <a:pt x="0" y="0"/>
                </a:moveTo>
                <a:lnTo>
                  <a:pt x="6644869" y="0"/>
                </a:lnTo>
                <a:lnTo>
                  <a:pt x="6644869" y="958937"/>
                </a:lnTo>
                <a:lnTo>
                  <a:pt x="0" y="958937"/>
                </a:lnTo>
                <a:lnTo>
                  <a:pt x="0" y="0"/>
                </a:lnTo>
                <a:close/>
              </a:path>
            </a:pathLst>
          </a:custGeom>
          <a:blipFill>
            <a:blip r:embed="rId3"/>
            <a:stretch>
              <a:fillRect l="0" t="0" r="0" b="0"/>
            </a:stretch>
          </a:blipFill>
        </p:spPr>
      </p:sp>
      <p:sp>
        <p:nvSpPr>
          <p:cNvPr name="Freeform 4" id="4"/>
          <p:cNvSpPr/>
          <p:nvPr/>
        </p:nvSpPr>
        <p:spPr>
          <a:xfrm flipH="false" flipV="false" rot="365558">
            <a:off x="2381815" y="9216861"/>
            <a:ext cx="6460840" cy="915286"/>
          </a:xfrm>
          <a:custGeom>
            <a:avLst/>
            <a:gdLst/>
            <a:ahLst/>
            <a:cxnLst/>
            <a:rect r="r" b="b" t="t" l="l"/>
            <a:pathLst>
              <a:path h="915286" w="6460840">
                <a:moveTo>
                  <a:pt x="0" y="0"/>
                </a:moveTo>
                <a:lnTo>
                  <a:pt x="6460840" y="0"/>
                </a:lnTo>
                <a:lnTo>
                  <a:pt x="6460840" y="915286"/>
                </a:lnTo>
                <a:lnTo>
                  <a:pt x="0" y="915286"/>
                </a:lnTo>
                <a:lnTo>
                  <a:pt x="0" y="0"/>
                </a:lnTo>
                <a:close/>
              </a:path>
            </a:pathLst>
          </a:custGeom>
          <a:blipFill>
            <a:blip r:embed="rId4"/>
            <a:stretch>
              <a:fillRect l="0" t="0" r="0" b="0"/>
            </a:stretch>
          </a:blipFill>
        </p:spPr>
      </p:sp>
      <p:sp>
        <p:nvSpPr>
          <p:cNvPr name="Freeform 5" id="5"/>
          <p:cNvSpPr/>
          <p:nvPr/>
        </p:nvSpPr>
        <p:spPr>
          <a:xfrm flipH="false" flipV="false" rot="0">
            <a:off x="13070425" y="1660099"/>
            <a:ext cx="5805231" cy="785186"/>
          </a:xfrm>
          <a:custGeom>
            <a:avLst/>
            <a:gdLst/>
            <a:ahLst/>
            <a:cxnLst/>
            <a:rect r="r" b="b" t="t" l="l"/>
            <a:pathLst>
              <a:path h="785186" w="5805231">
                <a:moveTo>
                  <a:pt x="0" y="0"/>
                </a:moveTo>
                <a:lnTo>
                  <a:pt x="5805231" y="0"/>
                </a:lnTo>
                <a:lnTo>
                  <a:pt x="5805231" y="785187"/>
                </a:lnTo>
                <a:lnTo>
                  <a:pt x="0" y="785187"/>
                </a:lnTo>
                <a:lnTo>
                  <a:pt x="0" y="0"/>
                </a:lnTo>
                <a:close/>
              </a:path>
            </a:pathLst>
          </a:custGeom>
          <a:blipFill>
            <a:blip r:embed="rId5"/>
            <a:stretch>
              <a:fillRect l="0" t="0" r="0" b="0"/>
            </a:stretch>
          </a:blipFill>
        </p:spPr>
      </p:sp>
      <p:sp>
        <p:nvSpPr>
          <p:cNvPr name="TextBox 6" id="6"/>
          <p:cNvSpPr txBox="true"/>
          <p:nvPr/>
        </p:nvSpPr>
        <p:spPr>
          <a:xfrm rot="0">
            <a:off x="769845" y="439140"/>
            <a:ext cx="9418320" cy="630556"/>
          </a:xfrm>
          <a:prstGeom prst="rect">
            <a:avLst/>
          </a:prstGeom>
        </p:spPr>
        <p:txBody>
          <a:bodyPr anchor="t" rtlCol="false" tIns="0" lIns="0" bIns="0" rIns="0">
            <a:spAutoFit/>
          </a:bodyPr>
          <a:lstStyle/>
          <a:p>
            <a:pPr algn="l">
              <a:lnSpc>
                <a:spcPts val="4619"/>
              </a:lnSpc>
            </a:pPr>
            <a:r>
              <a:rPr lang="en-US" sz="3299">
                <a:solidFill>
                  <a:srgbClr val="1A1A1A"/>
                </a:solidFill>
                <a:latin typeface="Carlito"/>
                <a:ea typeface="Carlito"/>
                <a:cs typeface="Carlito"/>
                <a:sym typeface="Carlito"/>
              </a:rPr>
              <a:t>2. Kept the columns with a clear difference</a:t>
            </a:r>
          </a:p>
        </p:txBody>
      </p:sp>
      <p:sp>
        <p:nvSpPr>
          <p:cNvPr name="TextBox 7" id="7"/>
          <p:cNvSpPr txBox="true"/>
          <p:nvPr/>
        </p:nvSpPr>
        <p:spPr>
          <a:xfrm rot="0">
            <a:off x="1303245" y="922934"/>
            <a:ext cx="8868918" cy="561976"/>
          </a:xfrm>
          <a:prstGeom prst="rect">
            <a:avLst/>
          </a:prstGeom>
        </p:spPr>
        <p:txBody>
          <a:bodyPr anchor="t" rtlCol="false" tIns="0" lIns="0" bIns="0" rIns="0">
            <a:spAutoFit/>
          </a:bodyPr>
          <a:lstStyle/>
          <a:p>
            <a:pPr algn="l">
              <a:lnSpc>
                <a:spcPts val="4199"/>
              </a:lnSpc>
            </a:pPr>
            <a:r>
              <a:rPr lang="en-US" sz="2999">
                <a:solidFill>
                  <a:srgbClr val="404040"/>
                </a:solidFill>
                <a:latin typeface="Carlito"/>
                <a:ea typeface="Carlito"/>
                <a:cs typeface="Carlito"/>
                <a:sym typeface="Carlito"/>
              </a:rPr>
              <a:t>These were our candidates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69845" y="1660099"/>
            <a:ext cx="11830509" cy="6324865"/>
          </a:xfrm>
          <a:custGeom>
            <a:avLst/>
            <a:gdLst/>
            <a:ahLst/>
            <a:cxnLst/>
            <a:rect r="r" b="b" t="t" l="l"/>
            <a:pathLst>
              <a:path h="6324865" w="11830509">
                <a:moveTo>
                  <a:pt x="0" y="0"/>
                </a:moveTo>
                <a:lnTo>
                  <a:pt x="11830509" y="0"/>
                </a:lnTo>
                <a:lnTo>
                  <a:pt x="11830509" y="6324865"/>
                </a:lnTo>
                <a:lnTo>
                  <a:pt x="0" y="6324865"/>
                </a:lnTo>
                <a:lnTo>
                  <a:pt x="0" y="0"/>
                </a:lnTo>
                <a:close/>
              </a:path>
            </a:pathLst>
          </a:custGeom>
          <a:blipFill>
            <a:blip r:embed="rId2"/>
            <a:stretch>
              <a:fillRect l="0" t="0" r="0" b="0"/>
            </a:stretch>
          </a:blipFill>
        </p:spPr>
      </p:sp>
      <p:sp>
        <p:nvSpPr>
          <p:cNvPr name="Freeform 3" id="3"/>
          <p:cNvSpPr/>
          <p:nvPr/>
        </p:nvSpPr>
        <p:spPr>
          <a:xfrm flipH="false" flipV="false" rot="-271282">
            <a:off x="-279856" y="8549495"/>
            <a:ext cx="6644869" cy="958937"/>
          </a:xfrm>
          <a:custGeom>
            <a:avLst/>
            <a:gdLst/>
            <a:ahLst/>
            <a:cxnLst/>
            <a:rect r="r" b="b" t="t" l="l"/>
            <a:pathLst>
              <a:path h="958937" w="6644869">
                <a:moveTo>
                  <a:pt x="0" y="0"/>
                </a:moveTo>
                <a:lnTo>
                  <a:pt x="6644869" y="0"/>
                </a:lnTo>
                <a:lnTo>
                  <a:pt x="6644869" y="958937"/>
                </a:lnTo>
                <a:lnTo>
                  <a:pt x="0" y="958937"/>
                </a:lnTo>
                <a:lnTo>
                  <a:pt x="0" y="0"/>
                </a:lnTo>
                <a:close/>
              </a:path>
            </a:pathLst>
          </a:custGeom>
          <a:blipFill>
            <a:blip r:embed="rId3"/>
            <a:stretch>
              <a:fillRect l="0" t="0" r="0" b="0"/>
            </a:stretch>
          </a:blipFill>
        </p:spPr>
      </p:sp>
      <p:sp>
        <p:nvSpPr>
          <p:cNvPr name="Freeform 4" id="4"/>
          <p:cNvSpPr/>
          <p:nvPr/>
        </p:nvSpPr>
        <p:spPr>
          <a:xfrm flipH="false" flipV="false" rot="365558">
            <a:off x="2381815" y="9216861"/>
            <a:ext cx="6460840" cy="915286"/>
          </a:xfrm>
          <a:custGeom>
            <a:avLst/>
            <a:gdLst/>
            <a:ahLst/>
            <a:cxnLst/>
            <a:rect r="r" b="b" t="t" l="l"/>
            <a:pathLst>
              <a:path h="915286" w="6460840">
                <a:moveTo>
                  <a:pt x="0" y="0"/>
                </a:moveTo>
                <a:lnTo>
                  <a:pt x="6460840" y="0"/>
                </a:lnTo>
                <a:lnTo>
                  <a:pt x="6460840" y="915286"/>
                </a:lnTo>
                <a:lnTo>
                  <a:pt x="0" y="915286"/>
                </a:lnTo>
                <a:lnTo>
                  <a:pt x="0" y="0"/>
                </a:lnTo>
                <a:close/>
              </a:path>
            </a:pathLst>
          </a:custGeom>
          <a:blipFill>
            <a:blip r:embed="rId4"/>
            <a:stretch>
              <a:fillRect l="0" t="0" r="0" b="0"/>
            </a:stretch>
          </a:blipFill>
        </p:spPr>
      </p:sp>
      <p:sp>
        <p:nvSpPr>
          <p:cNvPr name="Freeform 5" id="5"/>
          <p:cNvSpPr/>
          <p:nvPr/>
        </p:nvSpPr>
        <p:spPr>
          <a:xfrm flipH="false" flipV="false" rot="-478560">
            <a:off x="5253861" y="8922008"/>
            <a:ext cx="6935613" cy="855847"/>
          </a:xfrm>
          <a:custGeom>
            <a:avLst/>
            <a:gdLst/>
            <a:ahLst/>
            <a:cxnLst/>
            <a:rect r="r" b="b" t="t" l="l"/>
            <a:pathLst>
              <a:path h="855847" w="6935613">
                <a:moveTo>
                  <a:pt x="0" y="0"/>
                </a:moveTo>
                <a:lnTo>
                  <a:pt x="6935613" y="0"/>
                </a:lnTo>
                <a:lnTo>
                  <a:pt x="6935613" y="855848"/>
                </a:lnTo>
                <a:lnTo>
                  <a:pt x="0" y="855848"/>
                </a:lnTo>
                <a:lnTo>
                  <a:pt x="0" y="0"/>
                </a:lnTo>
                <a:close/>
              </a:path>
            </a:pathLst>
          </a:custGeom>
          <a:blipFill>
            <a:blip r:embed="rId5"/>
            <a:stretch>
              <a:fillRect l="0" t="0" r="0" b="-7596"/>
            </a:stretch>
          </a:blipFill>
        </p:spPr>
      </p:sp>
      <p:sp>
        <p:nvSpPr>
          <p:cNvPr name="Freeform 6" id="6"/>
          <p:cNvSpPr/>
          <p:nvPr/>
        </p:nvSpPr>
        <p:spPr>
          <a:xfrm flipH="false" flipV="false" rot="1082293">
            <a:off x="8313521" y="9274584"/>
            <a:ext cx="7403498" cy="1142740"/>
          </a:xfrm>
          <a:custGeom>
            <a:avLst/>
            <a:gdLst/>
            <a:ahLst/>
            <a:cxnLst/>
            <a:rect r="r" b="b" t="t" l="l"/>
            <a:pathLst>
              <a:path h="1142740" w="7403498">
                <a:moveTo>
                  <a:pt x="0" y="0"/>
                </a:moveTo>
                <a:lnTo>
                  <a:pt x="7403498" y="0"/>
                </a:lnTo>
                <a:lnTo>
                  <a:pt x="7403498" y="1142740"/>
                </a:lnTo>
                <a:lnTo>
                  <a:pt x="0" y="1142740"/>
                </a:lnTo>
                <a:lnTo>
                  <a:pt x="0" y="0"/>
                </a:lnTo>
                <a:close/>
              </a:path>
            </a:pathLst>
          </a:custGeom>
          <a:blipFill>
            <a:blip r:embed="rId6"/>
            <a:stretch>
              <a:fillRect l="0" t="0" r="0" b="0"/>
            </a:stretch>
          </a:blipFill>
        </p:spPr>
      </p:sp>
      <p:sp>
        <p:nvSpPr>
          <p:cNvPr name="Freeform 7" id="7"/>
          <p:cNvSpPr/>
          <p:nvPr/>
        </p:nvSpPr>
        <p:spPr>
          <a:xfrm flipH="false" flipV="false" rot="-271282">
            <a:off x="10208600" y="9038223"/>
            <a:ext cx="8818101" cy="1272561"/>
          </a:xfrm>
          <a:custGeom>
            <a:avLst/>
            <a:gdLst/>
            <a:ahLst/>
            <a:cxnLst/>
            <a:rect r="r" b="b" t="t" l="l"/>
            <a:pathLst>
              <a:path h="1272561" w="8818101">
                <a:moveTo>
                  <a:pt x="0" y="0"/>
                </a:moveTo>
                <a:lnTo>
                  <a:pt x="8818101" y="0"/>
                </a:lnTo>
                <a:lnTo>
                  <a:pt x="8818101" y="1272562"/>
                </a:lnTo>
                <a:lnTo>
                  <a:pt x="0" y="1272562"/>
                </a:lnTo>
                <a:lnTo>
                  <a:pt x="0" y="0"/>
                </a:lnTo>
                <a:close/>
              </a:path>
            </a:pathLst>
          </a:custGeom>
          <a:blipFill>
            <a:blip r:embed="rId3"/>
            <a:stretch>
              <a:fillRect l="0" t="0" r="0" b="0"/>
            </a:stretch>
          </a:blipFill>
        </p:spPr>
      </p:sp>
      <p:sp>
        <p:nvSpPr>
          <p:cNvPr name="Freeform 8" id="8"/>
          <p:cNvSpPr/>
          <p:nvPr/>
        </p:nvSpPr>
        <p:spPr>
          <a:xfrm flipH="false" flipV="false" rot="0">
            <a:off x="13070425" y="1660099"/>
            <a:ext cx="5805231" cy="785186"/>
          </a:xfrm>
          <a:custGeom>
            <a:avLst/>
            <a:gdLst/>
            <a:ahLst/>
            <a:cxnLst/>
            <a:rect r="r" b="b" t="t" l="l"/>
            <a:pathLst>
              <a:path h="785186" w="5805231">
                <a:moveTo>
                  <a:pt x="0" y="0"/>
                </a:moveTo>
                <a:lnTo>
                  <a:pt x="5805231" y="0"/>
                </a:lnTo>
                <a:lnTo>
                  <a:pt x="5805231" y="785187"/>
                </a:lnTo>
                <a:lnTo>
                  <a:pt x="0" y="785187"/>
                </a:lnTo>
                <a:lnTo>
                  <a:pt x="0" y="0"/>
                </a:lnTo>
                <a:close/>
              </a:path>
            </a:pathLst>
          </a:custGeom>
          <a:blipFill>
            <a:blip r:embed="rId7"/>
            <a:stretch>
              <a:fillRect l="0" t="0" r="0" b="0"/>
            </a:stretch>
          </a:blipFill>
        </p:spPr>
      </p:sp>
      <p:sp>
        <p:nvSpPr>
          <p:cNvPr name="TextBox 9" id="9"/>
          <p:cNvSpPr txBox="true"/>
          <p:nvPr/>
        </p:nvSpPr>
        <p:spPr>
          <a:xfrm rot="0">
            <a:off x="769845" y="439140"/>
            <a:ext cx="9418320" cy="630556"/>
          </a:xfrm>
          <a:prstGeom prst="rect">
            <a:avLst/>
          </a:prstGeom>
        </p:spPr>
        <p:txBody>
          <a:bodyPr anchor="t" rtlCol="false" tIns="0" lIns="0" bIns="0" rIns="0">
            <a:spAutoFit/>
          </a:bodyPr>
          <a:lstStyle/>
          <a:p>
            <a:pPr algn="l">
              <a:lnSpc>
                <a:spcPts val="4619"/>
              </a:lnSpc>
            </a:pPr>
            <a:r>
              <a:rPr lang="en-US" sz="3299">
                <a:solidFill>
                  <a:srgbClr val="1A1A1A"/>
                </a:solidFill>
                <a:latin typeface="Carlito"/>
                <a:ea typeface="Carlito"/>
                <a:cs typeface="Carlito"/>
                <a:sym typeface="Carlito"/>
              </a:rPr>
              <a:t>2. Kept the columns with a clear difference</a:t>
            </a:r>
          </a:p>
        </p:txBody>
      </p:sp>
      <p:sp>
        <p:nvSpPr>
          <p:cNvPr name="TextBox 10" id="10"/>
          <p:cNvSpPr txBox="true"/>
          <p:nvPr/>
        </p:nvSpPr>
        <p:spPr>
          <a:xfrm rot="0">
            <a:off x="1303245" y="922934"/>
            <a:ext cx="8868918" cy="561976"/>
          </a:xfrm>
          <a:prstGeom prst="rect">
            <a:avLst/>
          </a:prstGeom>
        </p:spPr>
        <p:txBody>
          <a:bodyPr anchor="t" rtlCol="false" tIns="0" lIns="0" bIns="0" rIns="0">
            <a:spAutoFit/>
          </a:bodyPr>
          <a:lstStyle/>
          <a:p>
            <a:pPr algn="l">
              <a:lnSpc>
                <a:spcPts val="4199"/>
              </a:lnSpc>
            </a:pPr>
            <a:r>
              <a:rPr lang="en-US" sz="2999">
                <a:solidFill>
                  <a:srgbClr val="404040"/>
                </a:solidFill>
                <a:latin typeface="Carlito"/>
                <a:ea typeface="Carlito"/>
                <a:cs typeface="Carlito"/>
                <a:sym typeface="Carlito"/>
              </a:rPr>
              <a:t>These were our candidates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69845" y="1660099"/>
            <a:ext cx="11830509" cy="6324865"/>
          </a:xfrm>
          <a:custGeom>
            <a:avLst/>
            <a:gdLst/>
            <a:ahLst/>
            <a:cxnLst/>
            <a:rect r="r" b="b" t="t" l="l"/>
            <a:pathLst>
              <a:path h="6324865" w="11830509">
                <a:moveTo>
                  <a:pt x="0" y="0"/>
                </a:moveTo>
                <a:lnTo>
                  <a:pt x="11830509" y="0"/>
                </a:lnTo>
                <a:lnTo>
                  <a:pt x="11830509" y="6324865"/>
                </a:lnTo>
                <a:lnTo>
                  <a:pt x="0" y="6324865"/>
                </a:lnTo>
                <a:lnTo>
                  <a:pt x="0" y="0"/>
                </a:lnTo>
                <a:close/>
              </a:path>
            </a:pathLst>
          </a:custGeom>
          <a:blipFill>
            <a:blip r:embed="rId2"/>
            <a:stretch>
              <a:fillRect l="0" t="0" r="0" b="0"/>
            </a:stretch>
          </a:blipFill>
        </p:spPr>
      </p:sp>
      <p:sp>
        <p:nvSpPr>
          <p:cNvPr name="Freeform 3" id="3"/>
          <p:cNvSpPr/>
          <p:nvPr/>
        </p:nvSpPr>
        <p:spPr>
          <a:xfrm flipH="false" flipV="false" rot="-271282">
            <a:off x="-279856" y="8549495"/>
            <a:ext cx="6644869" cy="958937"/>
          </a:xfrm>
          <a:custGeom>
            <a:avLst/>
            <a:gdLst/>
            <a:ahLst/>
            <a:cxnLst/>
            <a:rect r="r" b="b" t="t" l="l"/>
            <a:pathLst>
              <a:path h="958937" w="6644869">
                <a:moveTo>
                  <a:pt x="0" y="0"/>
                </a:moveTo>
                <a:lnTo>
                  <a:pt x="6644869" y="0"/>
                </a:lnTo>
                <a:lnTo>
                  <a:pt x="6644869" y="958937"/>
                </a:lnTo>
                <a:lnTo>
                  <a:pt x="0" y="958937"/>
                </a:lnTo>
                <a:lnTo>
                  <a:pt x="0" y="0"/>
                </a:lnTo>
                <a:close/>
              </a:path>
            </a:pathLst>
          </a:custGeom>
          <a:blipFill>
            <a:blip r:embed="rId3"/>
            <a:stretch>
              <a:fillRect l="0" t="0" r="0" b="0"/>
            </a:stretch>
          </a:blipFill>
        </p:spPr>
      </p:sp>
      <p:sp>
        <p:nvSpPr>
          <p:cNvPr name="Freeform 4" id="4"/>
          <p:cNvSpPr/>
          <p:nvPr/>
        </p:nvSpPr>
        <p:spPr>
          <a:xfrm flipH="false" flipV="false" rot="365558">
            <a:off x="2381815" y="9216861"/>
            <a:ext cx="6460840" cy="915286"/>
          </a:xfrm>
          <a:custGeom>
            <a:avLst/>
            <a:gdLst/>
            <a:ahLst/>
            <a:cxnLst/>
            <a:rect r="r" b="b" t="t" l="l"/>
            <a:pathLst>
              <a:path h="915286" w="6460840">
                <a:moveTo>
                  <a:pt x="0" y="0"/>
                </a:moveTo>
                <a:lnTo>
                  <a:pt x="6460840" y="0"/>
                </a:lnTo>
                <a:lnTo>
                  <a:pt x="6460840" y="915286"/>
                </a:lnTo>
                <a:lnTo>
                  <a:pt x="0" y="915286"/>
                </a:lnTo>
                <a:lnTo>
                  <a:pt x="0" y="0"/>
                </a:lnTo>
                <a:close/>
              </a:path>
            </a:pathLst>
          </a:custGeom>
          <a:blipFill>
            <a:blip r:embed="rId4"/>
            <a:stretch>
              <a:fillRect l="0" t="0" r="0" b="0"/>
            </a:stretch>
          </a:blipFill>
        </p:spPr>
      </p:sp>
      <p:sp>
        <p:nvSpPr>
          <p:cNvPr name="Freeform 5" id="5"/>
          <p:cNvSpPr/>
          <p:nvPr/>
        </p:nvSpPr>
        <p:spPr>
          <a:xfrm flipH="false" flipV="false" rot="-478560">
            <a:off x="5253861" y="8922008"/>
            <a:ext cx="6935613" cy="855847"/>
          </a:xfrm>
          <a:custGeom>
            <a:avLst/>
            <a:gdLst/>
            <a:ahLst/>
            <a:cxnLst/>
            <a:rect r="r" b="b" t="t" l="l"/>
            <a:pathLst>
              <a:path h="855847" w="6935613">
                <a:moveTo>
                  <a:pt x="0" y="0"/>
                </a:moveTo>
                <a:lnTo>
                  <a:pt x="6935613" y="0"/>
                </a:lnTo>
                <a:lnTo>
                  <a:pt x="6935613" y="855848"/>
                </a:lnTo>
                <a:lnTo>
                  <a:pt x="0" y="855848"/>
                </a:lnTo>
                <a:lnTo>
                  <a:pt x="0" y="0"/>
                </a:lnTo>
                <a:close/>
              </a:path>
            </a:pathLst>
          </a:custGeom>
          <a:blipFill>
            <a:blip r:embed="rId5"/>
            <a:stretch>
              <a:fillRect l="0" t="0" r="0" b="-7596"/>
            </a:stretch>
          </a:blipFill>
        </p:spPr>
      </p:sp>
      <p:sp>
        <p:nvSpPr>
          <p:cNvPr name="Freeform 6" id="6"/>
          <p:cNvSpPr/>
          <p:nvPr/>
        </p:nvSpPr>
        <p:spPr>
          <a:xfrm flipH="false" flipV="false" rot="1082293">
            <a:off x="8313521" y="9274584"/>
            <a:ext cx="7403498" cy="1142740"/>
          </a:xfrm>
          <a:custGeom>
            <a:avLst/>
            <a:gdLst/>
            <a:ahLst/>
            <a:cxnLst/>
            <a:rect r="r" b="b" t="t" l="l"/>
            <a:pathLst>
              <a:path h="1142740" w="7403498">
                <a:moveTo>
                  <a:pt x="0" y="0"/>
                </a:moveTo>
                <a:lnTo>
                  <a:pt x="7403498" y="0"/>
                </a:lnTo>
                <a:lnTo>
                  <a:pt x="7403498" y="1142740"/>
                </a:lnTo>
                <a:lnTo>
                  <a:pt x="0" y="1142740"/>
                </a:lnTo>
                <a:lnTo>
                  <a:pt x="0" y="0"/>
                </a:lnTo>
                <a:close/>
              </a:path>
            </a:pathLst>
          </a:custGeom>
          <a:blipFill>
            <a:blip r:embed="rId6"/>
            <a:stretch>
              <a:fillRect l="0" t="0" r="0" b="0"/>
            </a:stretch>
          </a:blipFill>
        </p:spPr>
      </p:sp>
      <p:sp>
        <p:nvSpPr>
          <p:cNvPr name="Freeform 7" id="7"/>
          <p:cNvSpPr/>
          <p:nvPr/>
        </p:nvSpPr>
        <p:spPr>
          <a:xfrm flipH="false" flipV="false" rot="-271282">
            <a:off x="10208600" y="9038223"/>
            <a:ext cx="8818101" cy="1272561"/>
          </a:xfrm>
          <a:custGeom>
            <a:avLst/>
            <a:gdLst/>
            <a:ahLst/>
            <a:cxnLst/>
            <a:rect r="r" b="b" t="t" l="l"/>
            <a:pathLst>
              <a:path h="1272561" w="8818101">
                <a:moveTo>
                  <a:pt x="0" y="0"/>
                </a:moveTo>
                <a:lnTo>
                  <a:pt x="8818101" y="0"/>
                </a:lnTo>
                <a:lnTo>
                  <a:pt x="8818101" y="1272562"/>
                </a:lnTo>
                <a:lnTo>
                  <a:pt x="0" y="1272562"/>
                </a:lnTo>
                <a:lnTo>
                  <a:pt x="0" y="0"/>
                </a:lnTo>
                <a:close/>
              </a:path>
            </a:pathLst>
          </a:custGeom>
          <a:blipFill>
            <a:blip r:embed="rId3"/>
            <a:stretch>
              <a:fillRect l="0" t="0" r="0" b="0"/>
            </a:stretch>
          </a:blipFill>
        </p:spPr>
      </p:sp>
      <p:sp>
        <p:nvSpPr>
          <p:cNvPr name="Freeform 8" id="8"/>
          <p:cNvSpPr/>
          <p:nvPr/>
        </p:nvSpPr>
        <p:spPr>
          <a:xfrm flipH="false" flipV="false" rot="1047166">
            <a:off x="12221778" y="9148868"/>
            <a:ext cx="6935613" cy="855847"/>
          </a:xfrm>
          <a:custGeom>
            <a:avLst/>
            <a:gdLst/>
            <a:ahLst/>
            <a:cxnLst/>
            <a:rect r="r" b="b" t="t" l="l"/>
            <a:pathLst>
              <a:path h="855847" w="6935613">
                <a:moveTo>
                  <a:pt x="0" y="0"/>
                </a:moveTo>
                <a:lnTo>
                  <a:pt x="6935612" y="0"/>
                </a:lnTo>
                <a:lnTo>
                  <a:pt x="6935612" y="855847"/>
                </a:lnTo>
                <a:lnTo>
                  <a:pt x="0" y="855847"/>
                </a:lnTo>
                <a:lnTo>
                  <a:pt x="0" y="0"/>
                </a:lnTo>
                <a:close/>
              </a:path>
            </a:pathLst>
          </a:custGeom>
          <a:blipFill>
            <a:blip r:embed="rId5"/>
            <a:stretch>
              <a:fillRect l="0" t="0" r="0" b="-7596"/>
            </a:stretch>
          </a:blipFill>
        </p:spPr>
      </p:sp>
      <p:sp>
        <p:nvSpPr>
          <p:cNvPr name="Freeform 9" id="9"/>
          <p:cNvSpPr/>
          <p:nvPr/>
        </p:nvSpPr>
        <p:spPr>
          <a:xfrm flipH="false" flipV="false" rot="0">
            <a:off x="13070425" y="1660099"/>
            <a:ext cx="5217575" cy="5895860"/>
          </a:xfrm>
          <a:custGeom>
            <a:avLst/>
            <a:gdLst/>
            <a:ahLst/>
            <a:cxnLst/>
            <a:rect r="r" b="b" t="t" l="l"/>
            <a:pathLst>
              <a:path h="5895860" w="5217575">
                <a:moveTo>
                  <a:pt x="0" y="0"/>
                </a:moveTo>
                <a:lnTo>
                  <a:pt x="5217575" y="0"/>
                </a:lnTo>
                <a:lnTo>
                  <a:pt x="5217575" y="5895860"/>
                </a:lnTo>
                <a:lnTo>
                  <a:pt x="0" y="5895860"/>
                </a:lnTo>
                <a:lnTo>
                  <a:pt x="0" y="0"/>
                </a:lnTo>
                <a:close/>
              </a:path>
            </a:pathLst>
          </a:custGeom>
          <a:blipFill>
            <a:blip r:embed="rId7"/>
            <a:stretch>
              <a:fillRect l="0" t="0" r="0" b="0"/>
            </a:stretch>
          </a:blipFill>
        </p:spPr>
      </p:sp>
      <p:sp>
        <p:nvSpPr>
          <p:cNvPr name="Freeform 10" id="10"/>
          <p:cNvSpPr/>
          <p:nvPr/>
        </p:nvSpPr>
        <p:spPr>
          <a:xfrm flipH="false" flipV="false" rot="0">
            <a:off x="13070425" y="1660099"/>
            <a:ext cx="5805231" cy="785186"/>
          </a:xfrm>
          <a:custGeom>
            <a:avLst/>
            <a:gdLst/>
            <a:ahLst/>
            <a:cxnLst/>
            <a:rect r="r" b="b" t="t" l="l"/>
            <a:pathLst>
              <a:path h="785186" w="5805231">
                <a:moveTo>
                  <a:pt x="0" y="0"/>
                </a:moveTo>
                <a:lnTo>
                  <a:pt x="5805231" y="0"/>
                </a:lnTo>
                <a:lnTo>
                  <a:pt x="5805231" y="785187"/>
                </a:lnTo>
                <a:lnTo>
                  <a:pt x="0" y="785187"/>
                </a:lnTo>
                <a:lnTo>
                  <a:pt x="0" y="0"/>
                </a:lnTo>
                <a:close/>
              </a:path>
            </a:pathLst>
          </a:custGeom>
          <a:blipFill>
            <a:blip r:embed="rId8"/>
            <a:stretch>
              <a:fillRect l="0" t="0" r="0" b="0"/>
            </a:stretch>
          </a:blipFill>
        </p:spPr>
      </p:sp>
      <p:sp>
        <p:nvSpPr>
          <p:cNvPr name="TextBox 11" id="11"/>
          <p:cNvSpPr txBox="true"/>
          <p:nvPr/>
        </p:nvSpPr>
        <p:spPr>
          <a:xfrm rot="0">
            <a:off x="769845" y="439140"/>
            <a:ext cx="9418320" cy="630556"/>
          </a:xfrm>
          <a:prstGeom prst="rect">
            <a:avLst/>
          </a:prstGeom>
        </p:spPr>
        <p:txBody>
          <a:bodyPr anchor="t" rtlCol="false" tIns="0" lIns="0" bIns="0" rIns="0">
            <a:spAutoFit/>
          </a:bodyPr>
          <a:lstStyle/>
          <a:p>
            <a:pPr algn="l">
              <a:lnSpc>
                <a:spcPts val="4619"/>
              </a:lnSpc>
            </a:pPr>
            <a:r>
              <a:rPr lang="en-US" sz="3299">
                <a:solidFill>
                  <a:srgbClr val="1A1A1A"/>
                </a:solidFill>
                <a:latin typeface="Carlito"/>
                <a:ea typeface="Carlito"/>
                <a:cs typeface="Carlito"/>
                <a:sym typeface="Carlito"/>
              </a:rPr>
              <a:t>2. Kept the columns with a clear difference</a:t>
            </a:r>
          </a:p>
        </p:txBody>
      </p:sp>
      <p:sp>
        <p:nvSpPr>
          <p:cNvPr name="TextBox 12" id="12"/>
          <p:cNvSpPr txBox="true"/>
          <p:nvPr/>
        </p:nvSpPr>
        <p:spPr>
          <a:xfrm rot="0">
            <a:off x="1303245" y="922934"/>
            <a:ext cx="8868918" cy="561976"/>
          </a:xfrm>
          <a:prstGeom prst="rect">
            <a:avLst/>
          </a:prstGeom>
        </p:spPr>
        <p:txBody>
          <a:bodyPr anchor="t" rtlCol="false" tIns="0" lIns="0" bIns="0" rIns="0">
            <a:spAutoFit/>
          </a:bodyPr>
          <a:lstStyle/>
          <a:p>
            <a:pPr algn="l">
              <a:lnSpc>
                <a:spcPts val="4199"/>
              </a:lnSpc>
            </a:pPr>
            <a:r>
              <a:rPr lang="en-US" sz="2999">
                <a:solidFill>
                  <a:srgbClr val="404040"/>
                </a:solidFill>
                <a:latin typeface="Carlito"/>
                <a:ea typeface="Carlito"/>
                <a:cs typeface="Carlito"/>
                <a:sym typeface="Carlito"/>
              </a:rPr>
              <a:t>These were our candidates</a:t>
            </a:r>
          </a:p>
        </p:txBody>
      </p:sp>
      <p:sp>
        <p:nvSpPr>
          <p:cNvPr name="TextBox 13" id="13"/>
          <p:cNvSpPr txBox="true"/>
          <p:nvPr/>
        </p:nvSpPr>
        <p:spPr>
          <a:xfrm rot="0">
            <a:off x="13070425" y="1624830"/>
            <a:ext cx="8868918" cy="760476"/>
          </a:xfrm>
          <a:prstGeom prst="rect">
            <a:avLst/>
          </a:prstGeom>
        </p:spPr>
        <p:txBody>
          <a:bodyPr anchor="t" rtlCol="false" tIns="0" lIns="0" bIns="0" rIns="0">
            <a:spAutoFit/>
          </a:bodyPr>
          <a:lstStyle/>
          <a:p>
            <a:pPr algn="l">
              <a:lnSpc>
                <a:spcPts val="3219"/>
              </a:lnSpc>
            </a:pPr>
            <a:r>
              <a:rPr lang="en-US" sz="2299">
                <a:solidFill>
                  <a:srgbClr val="404040"/>
                </a:solidFill>
                <a:latin typeface="Carlito"/>
                <a:ea typeface="Carlito"/>
                <a:cs typeface="Carlito"/>
                <a:sym typeface="Carlito"/>
              </a:rPr>
              <a:t>Us thinking what is the correct feature </a:t>
            </a:r>
          </a:p>
          <a:p>
            <a:pPr algn="l">
              <a:lnSpc>
                <a:spcPts val="2023"/>
              </a:lnSpc>
            </a:pPr>
            <a:r>
              <a:rPr lang="en-US" sz="2299">
                <a:solidFill>
                  <a:srgbClr val="404040"/>
                </a:solidFill>
                <a:latin typeface="Carlito"/>
                <a:ea typeface="Carlito"/>
                <a:cs typeface="Carlito"/>
                <a:sym typeface="Carlito"/>
              </a:rPr>
              <a:t>selection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7793" y="2236274"/>
            <a:ext cx="7699175" cy="6039130"/>
          </a:xfrm>
          <a:custGeom>
            <a:avLst/>
            <a:gdLst/>
            <a:ahLst/>
            <a:cxnLst/>
            <a:rect r="r" b="b" t="t" l="l"/>
            <a:pathLst>
              <a:path h="6039130" w="7699175">
                <a:moveTo>
                  <a:pt x="0" y="0"/>
                </a:moveTo>
                <a:lnTo>
                  <a:pt x="7699175" y="0"/>
                </a:lnTo>
                <a:lnTo>
                  <a:pt x="7699175" y="6039130"/>
                </a:lnTo>
                <a:lnTo>
                  <a:pt x="0" y="6039130"/>
                </a:lnTo>
                <a:lnTo>
                  <a:pt x="0" y="0"/>
                </a:lnTo>
                <a:close/>
              </a:path>
            </a:pathLst>
          </a:custGeom>
          <a:blipFill>
            <a:blip r:embed="rId2"/>
            <a:stretch>
              <a:fillRect l="0" t="0" r="0" b="0"/>
            </a:stretch>
          </a:blipFill>
        </p:spPr>
      </p:sp>
      <p:sp>
        <p:nvSpPr>
          <p:cNvPr name="Freeform 3" id="3"/>
          <p:cNvSpPr/>
          <p:nvPr/>
        </p:nvSpPr>
        <p:spPr>
          <a:xfrm flipH="false" flipV="false" rot="-431178">
            <a:off x="8177129" y="2714800"/>
            <a:ext cx="4642402" cy="773734"/>
          </a:xfrm>
          <a:custGeom>
            <a:avLst/>
            <a:gdLst/>
            <a:ahLst/>
            <a:cxnLst/>
            <a:rect r="r" b="b" t="t" l="l"/>
            <a:pathLst>
              <a:path h="773734" w="4642402">
                <a:moveTo>
                  <a:pt x="0" y="0"/>
                </a:moveTo>
                <a:lnTo>
                  <a:pt x="4642402" y="0"/>
                </a:lnTo>
                <a:lnTo>
                  <a:pt x="4642402" y="773733"/>
                </a:lnTo>
                <a:lnTo>
                  <a:pt x="0" y="773733"/>
                </a:lnTo>
                <a:lnTo>
                  <a:pt x="0" y="0"/>
                </a:lnTo>
                <a:close/>
              </a:path>
            </a:pathLst>
          </a:custGeom>
          <a:blipFill>
            <a:blip r:embed="rId3"/>
            <a:stretch>
              <a:fillRect l="0" t="0" r="0" b="0"/>
            </a:stretch>
          </a:blipFill>
        </p:spPr>
      </p:sp>
      <p:sp>
        <p:nvSpPr>
          <p:cNvPr name="TextBox 4" id="4"/>
          <p:cNvSpPr txBox="true"/>
          <p:nvPr/>
        </p:nvSpPr>
        <p:spPr>
          <a:xfrm rot="0">
            <a:off x="1028700" y="457209"/>
            <a:ext cx="9418320" cy="630556"/>
          </a:xfrm>
          <a:prstGeom prst="rect">
            <a:avLst/>
          </a:prstGeom>
        </p:spPr>
        <p:txBody>
          <a:bodyPr anchor="t" rtlCol="false" tIns="0" lIns="0" bIns="0" rIns="0">
            <a:spAutoFit/>
          </a:bodyPr>
          <a:lstStyle/>
          <a:p>
            <a:pPr algn="l">
              <a:lnSpc>
                <a:spcPts val="4619"/>
              </a:lnSpc>
            </a:pPr>
            <a:r>
              <a:rPr lang="en-US" sz="3299">
                <a:solidFill>
                  <a:srgbClr val="1A1A1A"/>
                </a:solidFill>
                <a:latin typeface="Carlito"/>
                <a:ea typeface="Carlito"/>
                <a:cs typeface="Carlito"/>
                <a:sym typeface="Carlito"/>
              </a:rPr>
              <a:t>3. Backward elimination</a:t>
            </a:r>
          </a:p>
        </p:txBody>
      </p:sp>
      <p:sp>
        <p:nvSpPr>
          <p:cNvPr name="TextBox 5" id="5"/>
          <p:cNvSpPr txBox="true"/>
          <p:nvPr/>
        </p:nvSpPr>
        <p:spPr>
          <a:xfrm rot="0">
            <a:off x="1562100" y="940993"/>
            <a:ext cx="8868918" cy="1085851"/>
          </a:xfrm>
          <a:prstGeom prst="rect">
            <a:avLst/>
          </a:prstGeom>
        </p:spPr>
        <p:txBody>
          <a:bodyPr anchor="t" rtlCol="false" tIns="0" lIns="0" bIns="0" rIns="0">
            <a:spAutoFit/>
          </a:bodyPr>
          <a:lstStyle/>
          <a:p>
            <a:pPr algn="l">
              <a:lnSpc>
                <a:spcPts val="4199"/>
              </a:lnSpc>
            </a:pPr>
            <a:r>
              <a:rPr lang="en-US" sz="2999">
                <a:solidFill>
                  <a:srgbClr val="404040"/>
                </a:solidFill>
                <a:latin typeface="Carlito"/>
                <a:ea typeface="Carlito"/>
                <a:cs typeface="Carlito"/>
                <a:sym typeface="Carlito"/>
              </a:rPr>
              <a:t>Balance change and new address share didn’t help, so we dropped them</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7793" y="2236274"/>
            <a:ext cx="7699175" cy="6039130"/>
          </a:xfrm>
          <a:custGeom>
            <a:avLst/>
            <a:gdLst/>
            <a:ahLst/>
            <a:cxnLst/>
            <a:rect r="r" b="b" t="t" l="l"/>
            <a:pathLst>
              <a:path h="6039130" w="7699175">
                <a:moveTo>
                  <a:pt x="0" y="0"/>
                </a:moveTo>
                <a:lnTo>
                  <a:pt x="7699175" y="0"/>
                </a:lnTo>
                <a:lnTo>
                  <a:pt x="7699175" y="6039130"/>
                </a:lnTo>
                <a:lnTo>
                  <a:pt x="0" y="6039130"/>
                </a:lnTo>
                <a:lnTo>
                  <a:pt x="0" y="0"/>
                </a:lnTo>
                <a:close/>
              </a:path>
            </a:pathLst>
          </a:custGeom>
          <a:blipFill>
            <a:blip r:embed="rId2"/>
            <a:stretch>
              <a:fillRect l="0" t="0" r="0" b="0"/>
            </a:stretch>
          </a:blipFill>
        </p:spPr>
      </p:sp>
      <p:sp>
        <p:nvSpPr>
          <p:cNvPr name="Freeform 3" id="3"/>
          <p:cNvSpPr/>
          <p:nvPr/>
        </p:nvSpPr>
        <p:spPr>
          <a:xfrm flipH="false" flipV="false" rot="-431178">
            <a:off x="8177129" y="2714800"/>
            <a:ext cx="4642402" cy="773734"/>
          </a:xfrm>
          <a:custGeom>
            <a:avLst/>
            <a:gdLst/>
            <a:ahLst/>
            <a:cxnLst/>
            <a:rect r="r" b="b" t="t" l="l"/>
            <a:pathLst>
              <a:path h="773734" w="4642402">
                <a:moveTo>
                  <a:pt x="0" y="0"/>
                </a:moveTo>
                <a:lnTo>
                  <a:pt x="4642402" y="0"/>
                </a:lnTo>
                <a:lnTo>
                  <a:pt x="4642402" y="773733"/>
                </a:lnTo>
                <a:lnTo>
                  <a:pt x="0" y="773733"/>
                </a:lnTo>
                <a:lnTo>
                  <a:pt x="0" y="0"/>
                </a:lnTo>
                <a:close/>
              </a:path>
            </a:pathLst>
          </a:custGeom>
          <a:blipFill>
            <a:blip r:embed="rId3"/>
            <a:stretch>
              <a:fillRect l="0" t="0" r="0" b="0"/>
            </a:stretch>
          </a:blipFill>
        </p:spPr>
      </p:sp>
      <p:sp>
        <p:nvSpPr>
          <p:cNvPr name="Freeform 4" id="4"/>
          <p:cNvSpPr/>
          <p:nvPr/>
        </p:nvSpPr>
        <p:spPr>
          <a:xfrm flipH="false" flipV="false" rot="680184">
            <a:off x="8188873" y="4256045"/>
            <a:ext cx="4752031" cy="898022"/>
          </a:xfrm>
          <a:custGeom>
            <a:avLst/>
            <a:gdLst/>
            <a:ahLst/>
            <a:cxnLst/>
            <a:rect r="r" b="b" t="t" l="l"/>
            <a:pathLst>
              <a:path h="898022" w="4752031">
                <a:moveTo>
                  <a:pt x="0" y="0"/>
                </a:moveTo>
                <a:lnTo>
                  <a:pt x="4752031" y="0"/>
                </a:lnTo>
                <a:lnTo>
                  <a:pt x="4752031" y="898022"/>
                </a:lnTo>
                <a:lnTo>
                  <a:pt x="0" y="898022"/>
                </a:lnTo>
                <a:lnTo>
                  <a:pt x="0" y="0"/>
                </a:lnTo>
                <a:close/>
              </a:path>
            </a:pathLst>
          </a:custGeom>
          <a:blipFill>
            <a:blip r:embed="rId4"/>
            <a:stretch>
              <a:fillRect l="0" t="0" r="0" b="0"/>
            </a:stretch>
          </a:blipFill>
        </p:spPr>
      </p:sp>
      <p:sp>
        <p:nvSpPr>
          <p:cNvPr name="TextBox 5" id="5"/>
          <p:cNvSpPr txBox="true"/>
          <p:nvPr/>
        </p:nvSpPr>
        <p:spPr>
          <a:xfrm rot="0">
            <a:off x="1028700" y="457209"/>
            <a:ext cx="9418320" cy="630556"/>
          </a:xfrm>
          <a:prstGeom prst="rect">
            <a:avLst/>
          </a:prstGeom>
        </p:spPr>
        <p:txBody>
          <a:bodyPr anchor="t" rtlCol="false" tIns="0" lIns="0" bIns="0" rIns="0">
            <a:spAutoFit/>
          </a:bodyPr>
          <a:lstStyle/>
          <a:p>
            <a:pPr algn="l">
              <a:lnSpc>
                <a:spcPts val="4619"/>
              </a:lnSpc>
            </a:pPr>
            <a:r>
              <a:rPr lang="en-US" sz="3299">
                <a:solidFill>
                  <a:srgbClr val="1A1A1A"/>
                </a:solidFill>
                <a:latin typeface="Carlito"/>
                <a:ea typeface="Carlito"/>
                <a:cs typeface="Carlito"/>
                <a:sym typeface="Carlito"/>
              </a:rPr>
              <a:t>3. Backward elimination</a:t>
            </a:r>
          </a:p>
        </p:txBody>
      </p:sp>
      <p:sp>
        <p:nvSpPr>
          <p:cNvPr name="TextBox 6" id="6"/>
          <p:cNvSpPr txBox="true"/>
          <p:nvPr/>
        </p:nvSpPr>
        <p:spPr>
          <a:xfrm rot="0">
            <a:off x="1562100" y="940993"/>
            <a:ext cx="8868918" cy="1085851"/>
          </a:xfrm>
          <a:prstGeom prst="rect">
            <a:avLst/>
          </a:prstGeom>
        </p:spPr>
        <p:txBody>
          <a:bodyPr anchor="t" rtlCol="false" tIns="0" lIns="0" bIns="0" rIns="0">
            <a:spAutoFit/>
          </a:bodyPr>
          <a:lstStyle/>
          <a:p>
            <a:pPr algn="l">
              <a:lnSpc>
                <a:spcPts val="4199"/>
              </a:lnSpc>
            </a:pPr>
            <a:r>
              <a:rPr lang="en-US" sz="2999">
                <a:solidFill>
                  <a:srgbClr val="404040"/>
                </a:solidFill>
                <a:latin typeface="Carlito"/>
                <a:ea typeface="Carlito"/>
                <a:cs typeface="Carlito"/>
                <a:sym typeface="Carlito"/>
              </a:rPr>
              <a:t>Balance change and new address share didn’t help, so we dropped them</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047800" y="2026844"/>
            <a:ext cx="5052665" cy="6082649"/>
          </a:xfrm>
          <a:custGeom>
            <a:avLst/>
            <a:gdLst/>
            <a:ahLst/>
            <a:cxnLst/>
            <a:rect r="r" b="b" t="t" l="l"/>
            <a:pathLst>
              <a:path h="6082649" w="5052665">
                <a:moveTo>
                  <a:pt x="0" y="0"/>
                </a:moveTo>
                <a:lnTo>
                  <a:pt x="5052666" y="0"/>
                </a:lnTo>
                <a:lnTo>
                  <a:pt x="5052666" y="6082649"/>
                </a:lnTo>
                <a:lnTo>
                  <a:pt x="0" y="6082649"/>
                </a:lnTo>
                <a:lnTo>
                  <a:pt x="0" y="0"/>
                </a:lnTo>
                <a:close/>
              </a:path>
            </a:pathLst>
          </a:custGeom>
          <a:blipFill>
            <a:blip r:embed="rId2"/>
            <a:stretch>
              <a:fillRect l="0" t="0" r="0" b="0"/>
            </a:stretch>
          </a:blipFill>
        </p:spPr>
      </p:sp>
      <p:sp>
        <p:nvSpPr>
          <p:cNvPr name="Freeform 3" id="3"/>
          <p:cNvSpPr/>
          <p:nvPr/>
        </p:nvSpPr>
        <p:spPr>
          <a:xfrm flipH="false" flipV="false" rot="0">
            <a:off x="447793" y="2236274"/>
            <a:ext cx="7699175" cy="6039130"/>
          </a:xfrm>
          <a:custGeom>
            <a:avLst/>
            <a:gdLst/>
            <a:ahLst/>
            <a:cxnLst/>
            <a:rect r="r" b="b" t="t" l="l"/>
            <a:pathLst>
              <a:path h="6039130" w="7699175">
                <a:moveTo>
                  <a:pt x="0" y="0"/>
                </a:moveTo>
                <a:lnTo>
                  <a:pt x="7699175" y="0"/>
                </a:lnTo>
                <a:lnTo>
                  <a:pt x="7699175" y="6039130"/>
                </a:lnTo>
                <a:lnTo>
                  <a:pt x="0" y="6039130"/>
                </a:lnTo>
                <a:lnTo>
                  <a:pt x="0" y="0"/>
                </a:lnTo>
                <a:close/>
              </a:path>
            </a:pathLst>
          </a:custGeom>
          <a:blipFill>
            <a:blip r:embed="rId3"/>
            <a:stretch>
              <a:fillRect l="0" t="0" r="0" b="0"/>
            </a:stretch>
          </a:blipFill>
        </p:spPr>
      </p:sp>
      <p:sp>
        <p:nvSpPr>
          <p:cNvPr name="Freeform 4" id="4"/>
          <p:cNvSpPr/>
          <p:nvPr/>
        </p:nvSpPr>
        <p:spPr>
          <a:xfrm flipH="false" flipV="false" rot="-431178">
            <a:off x="8177129" y="2714800"/>
            <a:ext cx="4642402" cy="773734"/>
          </a:xfrm>
          <a:custGeom>
            <a:avLst/>
            <a:gdLst/>
            <a:ahLst/>
            <a:cxnLst/>
            <a:rect r="r" b="b" t="t" l="l"/>
            <a:pathLst>
              <a:path h="773734" w="4642402">
                <a:moveTo>
                  <a:pt x="0" y="0"/>
                </a:moveTo>
                <a:lnTo>
                  <a:pt x="4642402" y="0"/>
                </a:lnTo>
                <a:lnTo>
                  <a:pt x="4642402" y="773733"/>
                </a:lnTo>
                <a:lnTo>
                  <a:pt x="0" y="773733"/>
                </a:lnTo>
                <a:lnTo>
                  <a:pt x="0" y="0"/>
                </a:lnTo>
                <a:close/>
              </a:path>
            </a:pathLst>
          </a:custGeom>
          <a:blipFill>
            <a:blip r:embed="rId4"/>
            <a:stretch>
              <a:fillRect l="0" t="0" r="0" b="0"/>
            </a:stretch>
          </a:blipFill>
        </p:spPr>
      </p:sp>
      <p:sp>
        <p:nvSpPr>
          <p:cNvPr name="Freeform 5" id="5"/>
          <p:cNvSpPr/>
          <p:nvPr/>
        </p:nvSpPr>
        <p:spPr>
          <a:xfrm flipH="false" flipV="false" rot="680184">
            <a:off x="8188873" y="4256045"/>
            <a:ext cx="4752031" cy="898022"/>
          </a:xfrm>
          <a:custGeom>
            <a:avLst/>
            <a:gdLst/>
            <a:ahLst/>
            <a:cxnLst/>
            <a:rect r="r" b="b" t="t" l="l"/>
            <a:pathLst>
              <a:path h="898022" w="4752031">
                <a:moveTo>
                  <a:pt x="0" y="0"/>
                </a:moveTo>
                <a:lnTo>
                  <a:pt x="4752031" y="0"/>
                </a:lnTo>
                <a:lnTo>
                  <a:pt x="4752031" y="898022"/>
                </a:lnTo>
                <a:lnTo>
                  <a:pt x="0" y="898022"/>
                </a:lnTo>
                <a:lnTo>
                  <a:pt x="0" y="0"/>
                </a:lnTo>
                <a:close/>
              </a:path>
            </a:pathLst>
          </a:custGeom>
          <a:blipFill>
            <a:blip r:embed="rId5"/>
            <a:stretch>
              <a:fillRect l="0" t="0" r="0" b="0"/>
            </a:stretch>
          </a:blipFill>
        </p:spPr>
      </p:sp>
      <p:sp>
        <p:nvSpPr>
          <p:cNvPr name="Freeform 6" id="6"/>
          <p:cNvSpPr/>
          <p:nvPr/>
        </p:nvSpPr>
        <p:spPr>
          <a:xfrm flipH="false" flipV="false" rot="0">
            <a:off x="8316806" y="5793307"/>
            <a:ext cx="4561157" cy="1231512"/>
          </a:xfrm>
          <a:custGeom>
            <a:avLst/>
            <a:gdLst/>
            <a:ahLst/>
            <a:cxnLst/>
            <a:rect r="r" b="b" t="t" l="l"/>
            <a:pathLst>
              <a:path h="1231512" w="4561157">
                <a:moveTo>
                  <a:pt x="0" y="0"/>
                </a:moveTo>
                <a:lnTo>
                  <a:pt x="4561156" y="0"/>
                </a:lnTo>
                <a:lnTo>
                  <a:pt x="4561156" y="1231513"/>
                </a:lnTo>
                <a:lnTo>
                  <a:pt x="0" y="1231513"/>
                </a:lnTo>
                <a:lnTo>
                  <a:pt x="0" y="0"/>
                </a:lnTo>
                <a:close/>
              </a:path>
            </a:pathLst>
          </a:custGeom>
          <a:blipFill>
            <a:blip r:embed="rId6"/>
            <a:stretch>
              <a:fillRect l="0" t="0" r="0" b="0"/>
            </a:stretch>
          </a:blipFill>
        </p:spPr>
      </p:sp>
      <p:sp>
        <p:nvSpPr>
          <p:cNvPr name="TextBox 7" id="7"/>
          <p:cNvSpPr txBox="true"/>
          <p:nvPr/>
        </p:nvSpPr>
        <p:spPr>
          <a:xfrm rot="0">
            <a:off x="1028700" y="457209"/>
            <a:ext cx="9418320" cy="630556"/>
          </a:xfrm>
          <a:prstGeom prst="rect">
            <a:avLst/>
          </a:prstGeom>
        </p:spPr>
        <p:txBody>
          <a:bodyPr anchor="t" rtlCol="false" tIns="0" lIns="0" bIns="0" rIns="0">
            <a:spAutoFit/>
          </a:bodyPr>
          <a:lstStyle/>
          <a:p>
            <a:pPr algn="l">
              <a:lnSpc>
                <a:spcPts val="4619"/>
              </a:lnSpc>
            </a:pPr>
            <a:r>
              <a:rPr lang="en-US" sz="3299">
                <a:solidFill>
                  <a:srgbClr val="1A1A1A"/>
                </a:solidFill>
                <a:latin typeface="Carlito"/>
                <a:ea typeface="Carlito"/>
                <a:cs typeface="Carlito"/>
                <a:sym typeface="Carlito"/>
              </a:rPr>
              <a:t>3. Backward elimination</a:t>
            </a:r>
          </a:p>
        </p:txBody>
      </p:sp>
      <p:sp>
        <p:nvSpPr>
          <p:cNvPr name="TextBox 8" id="8"/>
          <p:cNvSpPr txBox="true"/>
          <p:nvPr/>
        </p:nvSpPr>
        <p:spPr>
          <a:xfrm rot="0">
            <a:off x="1562100" y="940993"/>
            <a:ext cx="8868918" cy="1085851"/>
          </a:xfrm>
          <a:prstGeom prst="rect">
            <a:avLst/>
          </a:prstGeom>
        </p:spPr>
        <p:txBody>
          <a:bodyPr anchor="t" rtlCol="false" tIns="0" lIns="0" bIns="0" rIns="0">
            <a:spAutoFit/>
          </a:bodyPr>
          <a:lstStyle/>
          <a:p>
            <a:pPr algn="l">
              <a:lnSpc>
                <a:spcPts val="4199"/>
              </a:lnSpc>
            </a:pPr>
            <a:r>
              <a:rPr lang="en-US" sz="2999">
                <a:solidFill>
                  <a:srgbClr val="404040"/>
                </a:solidFill>
                <a:latin typeface="Carlito"/>
                <a:ea typeface="Carlito"/>
                <a:cs typeface="Carlito"/>
                <a:sym typeface="Carlito"/>
              </a:rPr>
              <a:t>Balance change and new address share didn’t help, so we dropped them</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047800" y="2026844"/>
            <a:ext cx="5052665" cy="6082649"/>
          </a:xfrm>
          <a:custGeom>
            <a:avLst/>
            <a:gdLst/>
            <a:ahLst/>
            <a:cxnLst/>
            <a:rect r="r" b="b" t="t" l="l"/>
            <a:pathLst>
              <a:path h="6082649" w="5052665">
                <a:moveTo>
                  <a:pt x="0" y="0"/>
                </a:moveTo>
                <a:lnTo>
                  <a:pt x="5052666" y="0"/>
                </a:lnTo>
                <a:lnTo>
                  <a:pt x="5052666" y="6082649"/>
                </a:lnTo>
                <a:lnTo>
                  <a:pt x="0" y="6082649"/>
                </a:lnTo>
                <a:lnTo>
                  <a:pt x="0" y="0"/>
                </a:lnTo>
                <a:close/>
              </a:path>
            </a:pathLst>
          </a:custGeom>
          <a:blipFill>
            <a:blip r:embed="rId2"/>
            <a:stretch>
              <a:fillRect l="0" t="0" r="0" b="0"/>
            </a:stretch>
          </a:blipFill>
        </p:spPr>
      </p:sp>
      <p:sp>
        <p:nvSpPr>
          <p:cNvPr name="Freeform 3" id="3"/>
          <p:cNvSpPr/>
          <p:nvPr/>
        </p:nvSpPr>
        <p:spPr>
          <a:xfrm flipH="false" flipV="false" rot="0">
            <a:off x="447793" y="2236274"/>
            <a:ext cx="7699175" cy="6039130"/>
          </a:xfrm>
          <a:custGeom>
            <a:avLst/>
            <a:gdLst/>
            <a:ahLst/>
            <a:cxnLst/>
            <a:rect r="r" b="b" t="t" l="l"/>
            <a:pathLst>
              <a:path h="6039130" w="7699175">
                <a:moveTo>
                  <a:pt x="0" y="0"/>
                </a:moveTo>
                <a:lnTo>
                  <a:pt x="7699175" y="0"/>
                </a:lnTo>
                <a:lnTo>
                  <a:pt x="7699175" y="6039130"/>
                </a:lnTo>
                <a:lnTo>
                  <a:pt x="0" y="6039130"/>
                </a:lnTo>
                <a:lnTo>
                  <a:pt x="0" y="0"/>
                </a:lnTo>
                <a:close/>
              </a:path>
            </a:pathLst>
          </a:custGeom>
          <a:blipFill>
            <a:blip r:embed="rId3"/>
            <a:stretch>
              <a:fillRect l="0" t="0" r="0" b="0"/>
            </a:stretch>
          </a:blipFill>
        </p:spPr>
      </p:sp>
      <p:sp>
        <p:nvSpPr>
          <p:cNvPr name="Freeform 4" id="4"/>
          <p:cNvSpPr/>
          <p:nvPr/>
        </p:nvSpPr>
        <p:spPr>
          <a:xfrm flipH="false" flipV="false" rot="-431178">
            <a:off x="8177129" y="2714800"/>
            <a:ext cx="4642402" cy="773734"/>
          </a:xfrm>
          <a:custGeom>
            <a:avLst/>
            <a:gdLst/>
            <a:ahLst/>
            <a:cxnLst/>
            <a:rect r="r" b="b" t="t" l="l"/>
            <a:pathLst>
              <a:path h="773734" w="4642402">
                <a:moveTo>
                  <a:pt x="0" y="0"/>
                </a:moveTo>
                <a:lnTo>
                  <a:pt x="4642402" y="0"/>
                </a:lnTo>
                <a:lnTo>
                  <a:pt x="4642402" y="773733"/>
                </a:lnTo>
                <a:lnTo>
                  <a:pt x="0" y="773733"/>
                </a:lnTo>
                <a:lnTo>
                  <a:pt x="0" y="0"/>
                </a:lnTo>
                <a:close/>
              </a:path>
            </a:pathLst>
          </a:custGeom>
          <a:blipFill>
            <a:blip r:embed="rId4"/>
            <a:stretch>
              <a:fillRect l="0" t="0" r="0" b="0"/>
            </a:stretch>
          </a:blipFill>
        </p:spPr>
      </p:sp>
      <p:sp>
        <p:nvSpPr>
          <p:cNvPr name="Freeform 5" id="5"/>
          <p:cNvSpPr/>
          <p:nvPr/>
        </p:nvSpPr>
        <p:spPr>
          <a:xfrm flipH="false" flipV="false" rot="680184">
            <a:off x="8188873" y="4256045"/>
            <a:ext cx="4752031" cy="898022"/>
          </a:xfrm>
          <a:custGeom>
            <a:avLst/>
            <a:gdLst/>
            <a:ahLst/>
            <a:cxnLst/>
            <a:rect r="r" b="b" t="t" l="l"/>
            <a:pathLst>
              <a:path h="898022" w="4752031">
                <a:moveTo>
                  <a:pt x="0" y="0"/>
                </a:moveTo>
                <a:lnTo>
                  <a:pt x="4752031" y="0"/>
                </a:lnTo>
                <a:lnTo>
                  <a:pt x="4752031" y="898022"/>
                </a:lnTo>
                <a:lnTo>
                  <a:pt x="0" y="898022"/>
                </a:lnTo>
                <a:lnTo>
                  <a:pt x="0" y="0"/>
                </a:lnTo>
                <a:close/>
              </a:path>
            </a:pathLst>
          </a:custGeom>
          <a:blipFill>
            <a:blip r:embed="rId5"/>
            <a:stretch>
              <a:fillRect l="0" t="0" r="0" b="0"/>
            </a:stretch>
          </a:blipFill>
        </p:spPr>
      </p:sp>
      <p:sp>
        <p:nvSpPr>
          <p:cNvPr name="Freeform 6" id="6"/>
          <p:cNvSpPr/>
          <p:nvPr/>
        </p:nvSpPr>
        <p:spPr>
          <a:xfrm flipH="false" flipV="false" rot="0">
            <a:off x="8316806" y="5793307"/>
            <a:ext cx="4561157" cy="1231512"/>
          </a:xfrm>
          <a:custGeom>
            <a:avLst/>
            <a:gdLst/>
            <a:ahLst/>
            <a:cxnLst/>
            <a:rect r="r" b="b" t="t" l="l"/>
            <a:pathLst>
              <a:path h="1231512" w="4561157">
                <a:moveTo>
                  <a:pt x="0" y="0"/>
                </a:moveTo>
                <a:lnTo>
                  <a:pt x="4561156" y="0"/>
                </a:lnTo>
                <a:lnTo>
                  <a:pt x="4561156" y="1231513"/>
                </a:lnTo>
                <a:lnTo>
                  <a:pt x="0" y="1231513"/>
                </a:lnTo>
                <a:lnTo>
                  <a:pt x="0" y="0"/>
                </a:lnTo>
                <a:close/>
              </a:path>
            </a:pathLst>
          </a:custGeom>
          <a:blipFill>
            <a:blip r:embed="rId6"/>
            <a:stretch>
              <a:fillRect l="0" t="0" r="0" b="0"/>
            </a:stretch>
          </a:blipFill>
        </p:spPr>
      </p:sp>
      <p:sp>
        <p:nvSpPr>
          <p:cNvPr name="Freeform 7" id="7"/>
          <p:cNvSpPr/>
          <p:nvPr/>
        </p:nvSpPr>
        <p:spPr>
          <a:xfrm flipH="false" flipV="false" rot="0">
            <a:off x="698635" y="8960998"/>
            <a:ext cx="7197491" cy="1063266"/>
          </a:xfrm>
          <a:custGeom>
            <a:avLst/>
            <a:gdLst/>
            <a:ahLst/>
            <a:cxnLst/>
            <a:rect r="r" b="b" t="t" l="l"/>
            <a:pathLst>
              <a:path h="1063266" w="7197491">
                <a:moveTo>
                  <a:pt x="0" y="0"/>
                </a:moveTo>
                <a:lnTo>
                  <a:pt x="7197490" y="0"/>
                </a:lnTo>
                <a:lnTo>
                  <a:pt x="7197490" y="1063265"/>
                </a:lnTo>
                <a:lnTo>
                  <a:pt x="0" y="1063265"/>
                </a:lnTo>
                <a:lnTo>
                  <a:pt x="0" y="0"/>
                </a:lnTo>
                <a:close/>
              </a:path>
            </a:pathLst>
          </a:custGeom>
          <a:blipFill>
            <a:blip r:embed="rId7"/>
            <a:stretch>
              <a:fillRect l="0" t="0" r="0" b="0"/>
            </a:stretch>
          </a:blipFill>
        </p:spPr>
      </p:sp>
      <p:sp>
        <p:nvSpPr>
          <p:cNvPr name="Freeform 8" id="8"/>
          <p:cNvSpPr/>
          <p:nvPr/>
        </p:nvSpPr>
        <p:spPr>
          <a:xfrm flipH="false" flipV="false" rot="0">
            <a:off x="9567553" y="8989736"/>
            <a:ext cx="6830514" cy="1005788"/>
          </a:xfrm>
          <a:custGeom>
            <a:avLst/>
            <a:gdLst/>
            <a:ahLst/>
            <a:cxnLst/>
            <a:rect r="r" b="b" t="t" l="l"/>
            <a:pathLst>
              <a:path h="1005788" w="6830514">
                <a:moveTo>
                  <a:pt x="0" y="0"/>
                </a:moveTo>
                <a:lnTo>
                  <a:pt x="6830514" y="0"/>
                </a:lnTo>
                <a:lnTo>
                  <a:pt x="6830514" y="1005788"/>
                </a:lnTo>
                <a:lnTo>
                  <a:pt x="0" y="1005788"/>
                </a:lnTo>
                <a:lnTo>
                  <a:pt x="0" y="0"/>
                </a:lnTo>
                <a:close/>
              </a:path>
            </a:pathLst>
          </a:custGeom>
          <a:blipFill>
            <a:blip r:embed="rId8"/>
            <a:stretch>
              <a:fillRect l="0" t="0" r="0" b="0"/>
            </a:stretch>
          </a:blipFill>
        </p:spPr>
      </p:sp>
      <p:sp>
        <p:nvSpPr>
          <p:cNvPr name="TextBox 9" id="9"/>
          <p:cNvSpPr txBox="true"/>
          <p:nvPr/>
        </p:nvSpPr>
        <p:spPr>
          <a:xfrm rot="0">
            <a:off x="1028700" y="457209"/>
            <a:ext cx="9418320" cy="630556"/>
          </a:xfrm>
          <a:prstGeom prst="rect">
            <a:avLst/>
          </a:prstGeom>
        </p:spPr>
        <p:txBody>
          <a:bodyPr anchor="t" rtlCol="false" tIns="0" lIns="0" bIns="0" rIns="0">
            <a:spAutoFit/>
          </a:bodyPr>
          <a:lstStyle/>
          <a:p>
            <a:pPr algn="l">
              <a:lnSpc>
                <a:spcPts val="4619"/>
              </a:lnSpc>
            </a:pPr>
            <a:r>
              <a:rPr lang="en-US" sz="3299">
                <a:solidFill>
                  <a:srgbClr val="1A1A1A"/>
                </a:solidFill>
                <a:latin typeface="Carlito"/>
                <a:ea typeface="Carlito"/>
                <a:cs typeface="Carlito"/>
                <a:sym typeface="Carlito"/>
              </a:rPr>
              <a:t>3. Backward elimination</a:t>
            </a:r>
          </a:p>
        </p:txBody>
      </p:sp>
      <p:sp>
        <p:nvSpPr>
          <p:cNvPr name="TextBox 10" id="10"/>
          <p:cNvSpPr txBox="true"/>
          <p:nvPr/>
        </p:nvSpPr>
        <p:spPr>
          <a:xfrm rot="0">
            <a:off x="1562100" y="940993"/>
            <a:ext cx="8868918" cy="1085851"/>
          </a:xfrm>
          <a:prstGeom prst="rect">
            <a:avLst/>
          </a:prstGeom>
        </p:spPr>
        <p:txBody>
          <a:bodyPr anchor="t" rtlCol="false" tIns="0" lIns="0" bIns="0" rIns="0">
            <a:spAutoFit/>
          </a:bodyPr>
          <a:lstStyle/>
          <a:p>
            <a:pPr algn="l">
              <a:lnSpc>
                <a:spcPts val="4199"/>
              </a:lnSpc>
            </a:pPr>
            <a:r>
              <a:rPr lang="en-US" sz="2999">
                <a:solidFill>
                  <a:srgbClr val="404040"/>
                </a:solidFill>
                <a:latin typeface="Carlito"/>
                <a:ea typeface="Carlito"/>
                <a:cs typeface="Carlito"/>
                <a:sym typeface="Carlito"/>
              </a:rPr>
              <a:t>Balance change and new address share didn’t help, so we dropped them</a:t>
            </a:r>
          </a:p>
        </p:txBody>
      </p:sp>
      <p:sp>
        <p:nvSpPr>
          <p:cNvPr name="TextBox 11" id="11"/>
          <p:cNvSpPr txBox="true"/>
          <p:nvPr/>
        </p:nvSpPr>
        <p:spPr>
          <a:xfrm rot="0">
            <a:off x="698635" y="8399022"/>
            <a:ext cx="8868918" cy="561976"/>
          </a:xfrm>
          <a:prstGeom prst="rect">
            <a:avLst/>
          </a:prstGeom>
        </p:spPr>
        <p:txBody>
          <a:bodyPr anchor="t" rtlCol="false" tIns="0" lIns="0" bIns="0" rIns="0">
            <a:spAutoFit/>
          </a:bodyPr>
          <a:lstStyle/>
          <a:p>
            <a:pPr algn="l">
              <a:lnSpc>
                <a:spcPts val="4199"/>
              </a:lnSpc>
            </a:pPr>
            <a:r>
              <a:rPr lang="en-US" sz="2999">
                <a:solidFill>
                  <a:srgbClr val="404040"/>
                </a:solidFill>
                <a:latin typeface="Carlito"/>
                <a:ea typeface="Carlito"/>
                <a:cs typeface="Carlito"/>
                <a:sym typeface="Carlito"/>
              </a:rPr>
              <a:t>Without b</a:t>
            </a:r>
            <a:r>
              <a:rPr lang="en-US" sz="2999">
                <a:solidFill>
                  <a:srgbClr val="404040"/>
                </a:solidFill>
                <a:latin typeface="Carlito"/>
                <a:ea typeface="Carlito"/>
                <a:cs typeface="Carlito"/>
                <a:sym typeface="Carlito"/>
              </a:rPr>
              <a:t>alance change :</a:t>
            </a:r>
          </a:p>
        </p:txBody>
      </p:sp>
      <p:sp>
        <p:nvSpPr>
          <p:cNvPr name="TextBox 12" id="12"/>
          <p:cNvSpPr txBox="true"/>
          <p:nvPr/>
        </p:nvSpPr>
        <p:spPr>
          <a:xfrm rot="0">
            <a:off x="9567553" y="8395243"/>
            <a:ext cx="8868918" cy="561976"/>
          </a:xfrm>
          <a:prstGeom prst="rect">
            <a:avLst/>
          </a:prstGeom>
        </p:spPr>
        <p:txBody>
          <a:bodyPr anchor="t" rtlCol="false" tIns="0" lIns="0" bIns="0" rIns="0">
            <a:spAutoFit/>
          </a:bodyPr>
          <a:lstStyle/>
          <a:p>
            <a:pPr algn="l">
              <a:lnSpc>
                <a:spcPts val="4199"/>
              </a:lnSpc>
            </a:pPr>
            <a:r>
              <a:rPr lang="en-US" sz="2999">
                <a:solidFill>
                  <a:srgbClr val="404040"/>
                </a:solidFill>
                <a:latin typeface="Carlito"/>
                <a:ea typeface="Carlito"/>
                <a:cs typeface="Carlito"/>
                <a:sym typeface="Carlito"/>
              </a:rPr>
              <a:t>Without new_address_fraction</a:t>
            </a:r>
            <a:r>
              <a:rPr lang="en-US" sz="2999">
                <a:solidFill>
                  <a:srgbClr val="404040"/>
                </a:solidFill>
                <a:latin typeface="Carlito"/>
                <a:ea typeface="Carlito"/>
                <a:cs typeface="Carlito"/>
                <a:sym typeface="Carlito"/>
              </a:rPr>
              <a:t>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2176649"/>
          <a:ext cx="7005314" cy="6078278"/>
        </p:xfrm>
        <a:graphic>
          <a:graphicData uri="http://schemas.openxmlformats.org/drawingml/2006/table">
            <a:tbl>
              <a:tblPr/>
              <a:tblGrid>
                <a:gridCol w="4015539"/>
                <a:gridCol w="2989775"/>
              </a:tblGrid>
              <a:tr h="826997">
                <a:tc>
                  <a:txBody>
                    <a:bodyPr anchor="t" rtlCol="false"/>
                    <a:lstStyle/>
                    <a:p>
                      <a:pPr algn="l">
                        <a:lnSpc>
                          <a:spcPts val="3149"/>
                        </a:lnSpc>
                        <a:defRPr/>
                      </a:pPr>
                      <a:r>
                        <a:rPr lang="en-US" sz="2250" b="true">
                          <a:solidFill>
                            <a:srgbClr val="1A1A1A"/>
                          </a:solidFill>
                          <a:latin typeface="Carlito Bold"/>
                          <a:ea typeface="Carlito Bold"/>
                          <a:cs typeface="Carlito Bold"/>
                          <a:sym typeface="Carlito Bold"/>
                        </a:rPr>
                        <a:t>Metric</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BCBCBC"/>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BCBCBC"/>
                      </a:solidFill>
                      <a:prstDash val="solid"/>
                      <a:round/>
                      <a:headEnd type="none" w="med" len="med"/>
                      <a:tailEnd type="none" w="med" len="med"/>
                    </a:lnB>
                    <a:solidFill>
                      <a:srgbClr val="ECECEC"/>
                    </a:solidFill>
                  </a:tcPr>
                </a:tc>
                <a:tc>
                  <a:txBody>
                    <a:bodyPr anchor="t" rtlCol="false"/>
                    <a:lstStyle/>
                    <a:p>
                      <a:pPr algn="l">
                        <a:lnSpc>
                          <a:spcPts val="3149"/>
                        </a:lnSpc>
                        <a:defRPr/>
                      </a:pPr>
                      <a:r>
                        <a:rPr lang="en-US" sz="2250" b="true">
                          <a:solidFill>
                            <a:srgbClr val="1A1A1A"/>
                          </a:solidFill>
                          <a:latin typeface="Carlito Bold"/>
                          <a:ea typeface="Carlito Bold"/>
                          <a:cs typeface="Carlito Bold"/>
                          <a:sym typeface="Carlito Bold"/>
                        </a:rPr>
                        <a:t>Result</a:t>
                      </a:r>
                      <a:endParaRPr lang="en-US" sz="1100"/>
                    </a:p>
                  </a:txBody>
                  <a:tcPr marL="66675" marR="66675" marT="66675" marB="66675" anchor="t">
                    <a:lnL cmpd="sng" algn="ctr" cap="flat" w="12700">
                      <a:solidFill>
                        <a:srgbClr val="BCBCBC"/>
                      </a:solidFill>
                      <a:prstDash val="solid"/>
                      <a:round/>
                      <a:headEnd type="none" w="med" len="med"/>
                      <a:tailEnd type="none" w="med" len="med"/>
                    </a:lnL>
                    <a:lnR cmpd="sng" algn="ctr" cap="flat" w="12700">
                      <a:solidFill>
                        <a:srgbClr val="BCBCBC"/>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BCBCBC"/>
                      </a:solidFill>
                      <a:prstDash val="solid"/>
                      <a:round/>
                      <a:headEnd type="none" w="med" len="med"/>
                      <a:tailEnd type="none" w="med" len="med"/>
                    </a:lnB>
                    <a:solidFill>
                      <a:srgbClr val="ECECEC"/>
                    </a:solidFill>
                  </a:tcPr>
                </a:tc>
              </a:tr>
              <a:tr h="582242">
                <a:tc>
                  <a:txBody>
                    <a:bodyPr anchor="t" rtlCol="false"/>
                    <a:lstStyle/>
                    <a:p>
                      <a:pPr algn="l">
                        <a:lnSpc>
                          <a:spcPts val="3149"/>
                        </a:lnSpc>
                        <a:defRPr/>
                      </a:pPr>
                      <a:r>
                        <a:rPr lang="en-US" sz="2250">
                          <a:solidFill>
                            <a:srgbClr val="1A1A1A"/>
                          </a:solidFill>
                          <a:latin typeface="Carlito"/>
                          <a:ea typeface="Carlito"/>
                          <a:cs typeface="Carlito"/>
                          <a:sym typeface="Carlito"/>
                        </a:rPr>
                        <a:t>Accuracy</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CBCBC"/>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149"/>
                        </a:lnSpc>
                        <a:defRPr/>
                      </a:pPr>
                      <a:r>
                        <a:rPr lang="en-US" sz="2250">
                          <a:solidFill>
                            <a:srgbClr val="1A1A1A"/>
                          </a:solidFill>
                          <a:latin typeface="Carlito"/>
                          <a:ea typeface="Carlito"/>
                          <a:cs typeface="Carlito"/>
                          <a:sym typeface="Carlito"/>
                        </a:rPr>
                        <a:t>70%</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CBCBC"/>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1330386">
                <a:tc>
                  <a:txBody>
                    <a:bodyPr anchor="t" rtlCol="false"/>
                    <a:lstStyle/>
                    <a:p>
                      <a:pPr algn="l">
                        <a:lnSpc>
                          <a:spcPts val="3149"/>
                        </a:lnSpc>
                        <a:defRPr/>
                      </a:pPr>
                      <a:r>
                        <a:rPr lang="en-US" sz="2250">
                          <a:solidFill>
                            <a:srgbClr val="1A1A1A"/>
                          </a:solidFill>
                          <a:latin typeface="Carlito"/>
                          <a:ea typeface="Carlito"/>
                          <a:cs typeface="Carlito"/>
                          <a:sym typeface="Carlito"/>
                        </a:rPr>
                        <a:t>Recall</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149"/>
                        </a:lnSpc>
                        <a:defRPr/>
                      </a:pPr>
                      <a:r>
                        <a:rPr lang="en-US" sz="2250">
                          <a:solidFill>
                            <a:srgbClr val="1A1A1A"/>
                          </a:solidFill>
                          <a:latin typeface="Carlito"/>
                          <a:ea typeface="Carlito"/>
                          <a:cs typeface="Carlito"/>
                          <a:sym typeface="Carlito"/>
                        </a:rPr>
                        <a:t>69% (24 of 35 frauds caught)</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1330386">
                <a:tc>
                  <a:txBody>
                    <a:bodyPr anchor="t" rtlCol="false"/>
                    <a:lstStyle/>
                    <a:p>
                      <a:pPr algn="l">
                        <a:lnSpc>
                          <a:spcPts val="3149"/>
                        </a:lnSpc>
                        <a:defRPr/>
                      </a:pPr>
                      <a:r>
                        <a:rPr lang="en-US" sz="2250">
                          <a:solidFill>
                            <a:srgbClr val="1A1A1A"/>
                          </a:solidFill>
                          <a:latin typeface="Carlito"/>
                          <a:ea typeface="Carlito"/>
                          <a:cs typeface="Carlito"/>
                          <a:sym typeface="Carlito"/>
                        </a:rPr>
                        <a:t>Precision</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149"/>
                        </a:lnSpc>
                        <a:defRPr/>
                      </a:pPr>
                      <a:r>
                        <a:rPr lang="en-US" sz="2250">
                          <a:solidFill>
                            <a:srgbClr val="1A1A1A"/>
                          </a:solidFill>
                          <a:latin typeface="Carlito"/>
                          <a:ea typeface="Carlito"/>
                          <a:cs typeface="Carlito"/>
                          <a:sym typeface="Carlito"/>
                        </a:rPr>
                        <a:t>65% (24 of 37 alarms right)</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1349897">
                <a:tc>
                  <a:txBody>
                    <a:bodyPr anchor="t" rtlCol="false"/>
                    <a:lstStyle/>
                    <a:p>
                      <a:pPr algn="l">
                        <a:lnSpc>
                          <a:spcPts val="3149"/>
                        </a:lnSpc>
                        <a:defRPr/>
                      </a:pPr>
                      <a:r>
                        <a:rPr lang="en-US" sz="2250">
                          <a:solidFill>
                            <a:srgbClr val="1A1A1A"/>
                          </a:solidFill>
                          <a:latin typeface="Carlito"/>
                          <a:ea typeface="Carlito"/>
                          <a:cs typeface="Carlito"/>
                          <a:sym typeface="Carlito"/>
                        </a:rPr>
                        <a:t>MAE</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149"/>
                        </a:lnSpc>
                        <a:defRPr/>
                      </a:pPr>
                      <a:r>
                        <a:rPr lang="en-US" sz="2250">
                          <a:solidFill>
                            <a:srgbClr val="1A1A1A"/>
                          </a:solidFill>
                          <a:latin typeface="Carlito"/>
                          <a:ea typeface="Carlito"/>
                          <a:cs typeface="Carlito"/>
                          <a:sym typeface="Carlito"/>
                        </a:rPr>
                        <a:t>0.30 (share of wrong answers)</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658371">
                <a:tc>
                  <a:txBody>
                    <a:bodyPr anchor="t" rtlCol="false"/>
                    <a:lstStyle/>
                    <a:p>
                      <a:pPr algn="l">
                        <a:lnSpc>
                          <a:spcPts val="3149"/>
                        </a:lnSpc>
                        <a:defRPr/>
                      </a:pPr>
                      <a:r>
                        <a:rPr lang="en-US" sz="2250">
                          <a:solidFill>
                            <a:srgbClr val="1A1A1A"/>
                          </a:solidFill>
                          <a:latin typeface="Carlito"/>
                          <a:ea typeface="Carlito"/>
                          <a:cs typeface="Carlito"/>
                          <a:sym typeface="Carlito"/>
                        </a:rPr>
                        <a:t>RMSE</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149"/>
                        </a:lnSpc>
                        <a:defRPr/>
                      </a:pPr>
                      <a:r>
                        <a:rPr lang="en-US" sz="2250">
                          <a:solidFill>
                            <a:srgbClr val="1A1A1A"/>
                          </a:solidFill>
                          <a:latin typeface="Carlito"/>
                          <a:ea typeface="Carlito"/>
                          <a:cs typeface="Carlito"/>
                          <a:sym typeface="Carlito"/>
                        </a:rPr>
                        <a:t>0.55</a:t>
                      </a:r>
                      <a:endParaRPr lang="en-US" sz="1100"/>
                    </a:p>
                  </a:txBody>
                  <a:tcPr marL="66675" marR="66675" marT="66675" marB="6667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bl>
          </a:graphicData>
        </a:graphic>
      </p:graphicFrame>
      <p:sp>
        <p:nvSpPr>
          <p:cNvPr name="Freeform 3" id="3"/>
          <p:cNvSpPr/>
          <p:nvPr/>
        </p:nvSpPr>
        <p:spPr>
          <a:xfrm flipH="false" flipV="false" rot="0">
            <a:off x="760037" y="8495653"/>
            <a:ext cx="12460259" cy="1600033"/>
          </a:xfrm>
          <a:custGeom>
            <a:avLst/>
            <a:gdLst/>
            <a:ahLst/>
            <a:cxnLst/>
            <a:rect r="r" b="b" t="t" l="l"/>
            <a:pathLst>
              <a:path h="1600033" w="12460259">
                <a:moveTo>
                  <a:pt x="0" y="0"/>
                </a:moveTo>
                <a:lnTo>
                  <a:pt x="12460259" y="0"/>
                </a:lnTo>
                <a:lnTo>
                  <a:pt x="12460259" y="1600033"/>
                </a:lnTo>
                <a:lnTo>
                  <a:pt x="0" y="1600033"/>
                </a:lnTo>
                <a:lnTo>
                  <a:pt x="0" y="0"/>
                </a:lnTo>
                <a:close/>
              </a:path>
            </a:pathLst>
          </a:custGeom>
          <a:blipFill>
            <a:blip r:embed="rId2"/>
            <a:stretch>
              <a:fillRect l="0" t="0" r="0" b="0"/>
            </a:stretch>
          </a:blipFill>
        </p:spPr>
      </p:sp>
      <p:sp>
        <p:nvSpPr>
          <p:cNvPr name="Freeform 4" id="4"/>
          <p:cNvSpPr/>
          <p:nvPr/>
        </p:nvSpPr>
        <p:spPr>
          <a:xfrm flipH="false" flipV="false" rot="0">
            <a:off x="10130750" y="1260688"/>
            <a:ext cx="5890221" cy="7047327"/>
          </a:xfrm>
          <a:custGeom>
            <a:avLst/>
            <a:gdLst/>
            <a:ahLst/>
            <a:cxnLst/>
            <a:rect r="r" b="b" t="t" l="l"/>
            <a:pathLst>
              <a:path h="7047327" w="5890221">
                <a:moveTo>
                  <a:pt x="0" y="0"/>
                </a:moveTo>
                <a:lnTo>
                  <a:pt x="5890221" y="0"/>
                </a:lnTo>
                <a:lnTo>
                  <a:pt x="5890221" y="7047327"/>
                </a:lnTo>
                <a:lnTo>
                  <a:pt x="0" y="7047327"/>
                </a:lnTo>
                <a:lnTo>
                  <a:pt x="0" y="0"/>
                </a:lnTo>
                <a:close/>
              </a:path>
            </a:pathLst>
          </a:custGeom>
          <a:blipFill>
            <a:blip r:embed="rId3"/>
            <a:stretch>
              <a:fillRect l="0" t="0" r="0" b="0"/>
            </a:stretch>
          </a:blipFill>
        </p:spPr>
      </p:sp>
      <p:sp>
        <p:nvSpPr>
          <p:cNvPr name="TextBox 5" id="5"/>
          <p:cNvSpPr txBox="true"/>
          <p:nvPr/>
        </p:nvSpPr>
        <p:spPr>
          <a:xfrm rot="0">
            <a:off x="1186271" y="1127338"/>
            <a:ext cx="6278880" cy="663576"/>
          </a:xfrm>
          <a:prstGeom prst="rect">
            <a:avLst/>
          </a:prstGeom>
        </p:spPr>
        <p:txBody>
          <a:bodyPr anchor="t" rtlCol="false" tIns="0" lIns="0" bIns="0" rIns="0">
            <a:spAutoFit/>
          </a:bodyPr>
          <a:lstStyle/>
          <a:p>
            <a:pPr algn="l">
              <a:lnSpc>
                <a:spcPts val="4899"/>
              </a:lnSpc>
            </a:pPr>
            <a:r>
              <a:rPr lang="en-US" sz="3499" b="true">
                <a:solidFill>
                  <a:srgbClr val="1A1A1A"/>
                </a:solidFill>
                <a:latin typeface="Carlito Bold"/>
                <a:ea typeface="Carlito Bold"/>
                <a:cs typeface="Carlito Bold"/>
                <a:sym typeface="Carlito Bold"/>
              </a:rPr>
              <a:t>Results on 80 unseen transactions</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19200" y="990600"/>
            <a:ext cx="16325088" cy="1036244"/>
          </a:xfrm>
          <a:prstGeom prst="rect">
            <a:avLst/>
          </a:prstGeom>
        </p:spPr>
        <p:txBody>
          <a:bodyPr anchor="t" rtlCol="false" tIns="0" lIns="0" bIns="0" rIns="0">
            <a:spAutoFit/>
          </a:bodyPr>
          <a:lstStyle/>
          <a:p>
            <a:pPr algn="l">
              <a:lnSpc>
                <a:spcPts val="7260"/>
              </a:lnSpc>
            </a:pPr>
            <a:r>
              <a:rPr lang="en-US" sz="6600">
                <a:solidFill>
                  <a:srgbClr val="1A1A1A"/>
                </a:solidFill>
                <a:latin typeface="Carlito"/>
                <a:ea typeface="Carlito"/>
                <a:cs typeface="Carlito"/>
                <a:sym typeface="Carlito"/>
              </a:rPr>
              <a:t>Live Demo</a:t>
            </a:r>
          </a:p>
        </p:txBody>
      </p:sp>
      <p:sp>
        <p:nvSpPr>
          <p:cNvPr name="TextBox 3" id="3"/>
          <p:cNvSpPr txBox="true"/>
          <p:nvPr/>
        </p:nvSpPr>
        <p:spPr>
          <a:xfrm rot="0">
            <a:off x="1219200" y="2312594"/>
            <a:ext cx="16325088" cy="811511"/>
          </a:xfrm>
          <a:prstGeom prst="rect">
            <a:avLst/>
          </a:prstGeom>
        </p:spPr>
        <p:txBody>
          <a:bodyPr anchor="t" rtlCol="false" tIns="0" lIns="0" bIns="0" rIns="0">
            <a:spAutoFit/>
          </a:bodyPr>
          <a:lstStyle/>
          <a:p>
            <a:pPr algn="l">
              <a:lnSpc>
                <a:spcPts val="5040"/>
              </a:lnSpc>
            </a:pPr>
            <a:r>
              <a:rPr lang="en-US" sz="3600">
                <a:solidFill>
                  <a:srgbClr val="1A1A1A"/>
                </a:solidFill>
                <a:latin typeface="Carlito"/>
                <a:ea typeface="Carlito"/>
                <a:cs typeface="Carlito"/>
                <a:sym typeface="Carlito"/>
              </a:rPr>
              <a:t>1. Statistics page</a:t>
            </a:r>
          </a:p>
        </p:txBody>
      </p:sp>
      <p:sp>
        <p:nvSpPr>
          <p:cNvPr name="TextBox 4" id="4"/>
          <p:cNvSpPr txBox="true"/>
          <p:nvPr/>
        </p:nvSpPr>
        <p:spPr>
          <a:xfrm rot="0">
            <a:off x="1905000" y="3038380"/>
            <a:ext cx="15618714" cy="622897"/>
          </a:xfrm>
          <a:prstGeom prst="rect">
            <a:avLst/>
          </a:prstGeom>
        </p:spPr>
        <p:txBody>
          <a:bodyPr anchor="t" rtlCol="false" tIns="0" lIns="0" bIns="0" rIns="0">
            <a:spAutoFit/>
          </a:bodyPr>
          <a:lstStyle/>
          <a:p>
            <a:pPr algn="l">
              <a:lnSpc>
                <a:spcPts val="3779"/>
              </a:lnSpc>
            </a:pPr>
            <a:r>
              <a:rPr lang="en-US" sz="2700">
                <a:solidFill>
                  <a:srgbClr val="404040"/>
                </a:solidFill>
                <a:latin typeface="Carlito"/>
                <a:ea typeface="Carlito"/>
                <a:cs typeface="Carlito"/>
                <a:sym typeface="Carlito"/>
              </a:rPr>
              <a:t>Pick a feature and compare fraud with clean transactions</a:t>
            </a:r>
          </a:p>
        </p:txBody>
      </p:sp>
      <p:sp>
        <p:nvSpPr>
          <p:cNvPr name="TextBox 5" id="5"/>
          <p:cNvSpPr txBox="true"/>
          <p:nvPr/>
        </p:nvSpPr>
        <p:spPr>
          <a:xfrm rot="0">
            <a:off x="1219200" y="3756527"/>
            <a:ext cx="16325088" cy="811511"/>
          </a:xfrm>
          <a:prstGeom prst="rect">
            <a:avLst/>
          </a:prstGeom>
        </p:spPr>
        <p:txBody>
          <a:bodyPr anchor="t" rtlCol="false" tIns="0" lIns="0" bIns="0" rIns="0">
            <a:spAutoFit/>
          </a:bodyPr>
          <a:lstStyle/>
          <a:p>
            <a:pPr algn="l">
              <a:lnSpc>
                <a:spcPts val="5040"/>
              </a:lnSpc>
            </a:pPr>
            <a:r>
              <a:rPr lang="en-US" sz="3600">
                <a:solidFill>
                  <a:srgbClr val="1A1A1A"/>
                </a:solidFill>
                <a:latin typeface="Carlito"/>
                <a:ea typeface="Carlito"/>
                <a:cs typeface="Carlito"/>
                <a:sym typeface="Carlito"/>
              </a:rPr>
              <a:t>2. Fraud classification page</a:t>
            </a:r>
          </a:p>
        </p:txBody>
      </p:sp>
      <p:sp>
        <p:nvSpPr>
          <p:cNvPr name="TextBox 6" id="6"/>
          <p:cNvSpPr txBox="true"/>
          <p:nvPr/>
        </p:nvSpPr>
        <p:spPr>
          <a:xfrm rot="0">
            <a:off x="1905000" y="4482303"/>
            <a:ext cx="15618714" cy="622897"/>
          </a:xfrm>
          <a:prstGeom prst="rect">
            <a:avLst/>
          </a:prstGeom>
        </p:spPr>
        <p:txBody>
          <a:bodyPr anchor="t" rtlCol="false" tIns="0" lIns="0" bIns="0" rIns="0">
            <a:spAutoFit/>
          </a:bodyPr>
          <a:lstStyle/>
          <a:p>
            <a:pPr algn="l">
              <a:lnSpc>
                <a:spcPts val="3779"/>
              </a:lnSpc>
            </a:pPr>
            <a:r>
              <a:rPr lang="en-US" sz="2700">
                <a:solidFill>
                  <a:srgbClr val="404040"/>
                </a:solidFill>
                <a:latin typeface="Carlito"/>
                <a:ea typeface="Carlito"/>
                <a:cs typeface="Carlito"/>
                <a:sym typeface="Carlito"/>
              </a:rPr>
              <a:t>Enter a transaction, get a verdict and its 3 most similar past transactions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180834" y="1463560"/>
            <a:ext cx="5519910" cy="7359879"/>
          </a:xfrm>
          <a:custGeom>
            <a:avLst/>
            <a:gdLst/>
            <a:ahLst/>
            <a:cxnLst/>
            <a:rect r="r" b="b" t="t" l="l"/>
            <a:pathLst>
              <a:path h="7359879" w="5519910">
                <a:moveTo>
                  <a:pt x="0" y="0"/>
                </a:moveTo>
                <a:lnTo>
                  <a:pt x="5519910" y="0"/>
                </a:lnTo>
                <a:lnTo>
                  <a:pt x="5519910" y="7359880"/>
                </a:lnTo>
                <a:lnTo>
                  <a:pt x="0" y="7359880"/>
                </a:lnTo>
                <a:lnTo>
                  <a:pt x="0" y="0"/>
                </a:lnTo>
                <a:close/>
              </a:path>
            </a:pathLst>
          </a:custGeom>
          <a:blipFill>
            <a:blip r:embed="rId3"/>
            <a:stretch>
              <a:fillRect l="0" t="0" r="0" b="0"/>
            </a:stretch>
          </a:blipFill>
        </p:spPr>
      </p:sp>
      <p:sp>
        <p:nvSpPr>
          <p:cNvPr name="TextBox 3" id="3"/>
          <p:cNvSpPr txBox="true"/>
          <p:nvPr/>
        </p:nvSpPr>
        <p:spPr>
          <a:xfrm rot="0">
            <a:off x="3702279" y="4568190"/>
            <a:ext cx="4163616" cy="1074420"/>
          </a:xfrm>
          <a:prstGeom prst="rect">
            <a:avLst/>
          </a:prstGeom>
        </p:spPr>
        <p:txBody>
          <a:bodyPr anchor="t" rtlCol="false" tIns="0" lIns="0" bIns="0" rIns="0">
            <a:spAutoFit/>
          </a:bodyPr>
          <a:lstStyle/>
          <a:p>
            <a:pPr algn="l">
              <a:lnSpc>
                <a:spcPts val="7260"/>
              </a:lnSpc>
            </a:pPr>
            <a:r>
              <a:rPr lang="en-US" b="true" sz="6600" i="true">
                <a:solidFill>
                  <a:srgbClr val="1A1A1A"/>
                </a:solidFill>
                <a:latin typeface="Carlito Bold Italics"/>
                <a:ea typeface="Carlito Bold Italics"/>
                <a:cs typeface="Carlito Bold Italics"/>
                <a:sym typeface="Carlito Bold Italics"/>
              </a:rPr>
              <a:t>Reflection...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16237" y="5426928"/>
            <a:ext cx="7875101" cy="3282913"/>
          </a:xfrm>
          <a:custGeom>
            <a:avLst/>
            <a:gdLst/>
            <a:ahLst/>
            <a:cxnLst/>
            <a:rect r="r" b="b" t="t" l="l"/>
            <a:pathLst>
              <a:path h="3282913" w="7875101">
                <a:moveTo>
                  <a:pt x="0" y="0"/>
                </a:moveTo>
                <a:lnTo>
                  <a:pt x="7875101" y="0"/>
                </a:lnTo>
                <a:lnTo>
                  <a:pt x="7875101" y="3282913"/>
                </a:lnTo>
                <a:lnTo>
                  <a:pt x="0" y="3282913"/>
                </a:lnTo>
                <a:lnTo>
                  <a:pt x="0" y="0"/>
                </a:lnTo>
                <a:close/>
              </a:path>
            </a:pathLst>
          </a:custGeom>
          <a:blipFill>
            <a:blip r:embed="rId2"/>
            <a:stretch>
              <a:fillRect l="0" t="-100930" r="0" b="0"/>
            </a:stretch>
          </a:blipFill>
        </p:spPr>
      </p:sp>
      <p:sp>
        <p:nvSpPr>
          <p:cNvPr name="TextBox 3" id="3"/>
          <p:cNvSpPr txBox="true"/>
          <p:nvPr/>
        </p:nvSpPr>
        <p:spPr>
          <a:xfrm rot="0">
            <a:off x="1190754" y="546939"/>
            <a:ext cx="16068546" cy="1566544"/>
          </a:xfrm>
          <a:prstGeom prst="rect">
            <a:avLst/>
          </a:prstGeom>
        </p:spPr>
        <p:txBody>
          <a:bodyPr anchor="t" rtlCol="false" tIns="0" lIns="0" bIns="0" rIns="0">
            <a:spAutoFit/>
          </a:bodyPr>
          <a:lstStyle/>
          <a:p>
            <a:pPr algn="ctr">
              <a:lnSpc>
                <a:spcPts val="12880"/>
              </a:lnSpc>
            </a:pPr>
            <a:r>
              <a:rPr lang="en-US" b="true" sz="9200">
                <a:solidFill>
                  <a:srgbClr val="000000"/>
                </a:solidFill>
                <a:latin typeface="Canva Sans Bold"/>
                <a:ea typeface="Canva Sans Bold"/>
                <a:cs typeface="Canva Sans Bold"/>
                <a:sym typeface="Canva Sans Bold"/>
              </a:rPr>
              <a:t>At the end of the day</a:t>
            </a:r>
          </a:p>
        </p:txBody>
      </p:sp>
      <p:sp>
        <p:nvSpPr>
          <p:cNvPr name="TextBox 4" id="4"/>
          <p:cNvSpPr txBox="true"/>
          <p:nvPr/>
        </p:nvSpPr>
        <p:spPr>
          <a:xfrm rot="0">
            <a:off x="3615155" y="2368639"/>
            <a:ext cx="10477264" cy="1382684"/>
          </a:xfrm>
          <a:prstGeom prst="rect">
            <a:avLst/>
          </a:prstGeom>
        </p:spPr>
        <p:txBody>
          <a:bodyPr anchor="t" rtlCol="false" tIns="0" lIns="0" bIns="0" rIns="0">
            <a:spAutoFit/>
          </a:bodyPr>
          <a:lstStyle/>
          <a:p>
            <a:pPr algn="ctr">
              <a:lnSpc>
                <a:spcPts val="5277"/>
              </a:lnSpc>
            </a:pPr>
            <a:r>
              <a:rPr lang="en-US" sz="3769" b="true">
                <a:solidFill>
                  <a:srgbClr val="000000"/>
                </a:solidFill>
                <a:latin typeface="Carlito Bold"/>
                <a:ea typeface="Carlito Bold"/>
                <a:cs typeface="Carlito Bold"/>
                <a:sym typeface="Carlito Bold"/>
              </a:rPr>
              <a:t>We really liked working with models, </a:t>
            </a:r>
          </a:p>
          <a:p>
            <a:pPr algn="ctr">
              <a:lnSpc>
                <a:spcPts val="5277"/>
              </a:lnSpc>
              <a:spcBef>
                <a:spcPct val="0"/>
              </a:spcBef>
            </a:pPr>
            <a:r>
              <a:rPr lang="en-US" b="true" sz="3769">
                <a:solidFill>
                  <a:srgbClr val="000000"/>
                </a:solidFill>
                <a:latin typeface="Carlito Bold"/>
                <a:ea typeface="Carlito Bold"/>
                <a:cs typeface="Carlito Bold"/>
                <a:sym typeface="Carlito Bold"/>
              </a:rPr>
              <a:t>and we are very proud that we chose The Right thing</a:t>
            </a:r>
          </a:p>
        </p:txBody>
      </p:sp>
      <p:sp>
        <p:nvSpPr>
          <p:cNvPr name="TextBox 5" id="5"/>
          <p:cNvSpPr txBox="true"/>
          <p:nvPr/>
        </p:nvSpPr>
        <p:spPr>
          <a:xfrm rot="0">
            <a:off x="5136041" y="4428600"/>
            <a:ext cx="7088738" cy="714900"/>
          </a:xfrm>
          <a:prstGeom prst="rect">
            <a:avLst/>
          </a:prstGeom>
        </p:spPr>
        <p:txBody>
          <a:bodyPr anchor="t" rtlCol="false" tIns="0" lIns="0" bIns="0" rIns="0">
            <a:spAutoFit/>
          </a:bodyPr>
          <a:lstStyle/>
          <a:p>
            <a:pPr algn="ctr">
              <a:lnSpc>
                <a:spcPts val="5277"/>
              </a:lnSpc>
              <a:spcBef>
                <a:spcPct val="0"/>
              </a:spcBef>
            </a:pPr>
            <a:r>
              <a:rPr lang="en-US" b="true" sz="3769">
                <a:solidFill>
                  <a:srgbClr val="000000"/>
                </a:solidFill>
                <a:latin typeface="Carlito Bold"/>
                <a:ea typeface="Carlito Bold"/>
                <a:cs typeface="Carlito Bold"/>
                <a:sym typeface="Carlito Bold"/>
              </a:rPr>
              <a:t>The Left thing:          The Right thing:</a:t>
            </a:r>
          </a:p>
        </p:txBody>
      </p:sp>
      <p:sp>
        <p:nvSpPr>
          <p:cNvPr name="TextBox 6" id="6"/>
          <p:cNvSpPr txBox="true"/>
          <p:nvPr/>
        </p:nvSpPr>
        <p:spPr>
          <a:xfrm rot="0">
            <a:off x="5524717" y="8857987"/>
            <a:ext cx="6311384" cy="562737"/>
          </a:xfrm>
          <a:prstGeom prst="rect">
            <a:avLst/>
          </a:prstGeom>
        </p:spPr>
        <p:txBody>
          <a:bodyPr anchor="t" rtlCol="false" tIns="0" lIns="0" bIns="0" rIns="0">
            <a:spAutoFit/>
          </a:bodyPr>
          <a:lstStyle/>
          <a:p>
            <a:pPr algn="ctr">
              <a:lnSpc>
                <a:spcPts val="4158"/>
              </a:lnSpc>
              <a:spcBef>
                <a:spcPct val="0"/>
              </a:spcBef>
            </a:pPr>
            <a:r>
              <a:rPr lang="en-US" b="true" sz="2970">
                <a:solidFill>
                  <a:srgbClr val="000000">
                    <a:alpha val="43922"/>
                  </a:srgbClr>
                </a:solidFill>
                <a:latin typeface="Carlito Bold"/>
                <a:ea typeface="Carlito Bold"/>
                <a:cs typeface="Carlito Bold"/>
                <a:sym typeface="Carlito Bold"/>
              </a:rPr>
              <a:t>both models, not the same thing though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DAHYkGC5-jI</dc:identifier>
  <dcterms:modified xsi:type="dcterms:W3CDTF">2011-08-01T06:04:30Z</dcterms:modified>
  <cp:revision>1</cp:revision>
  <dc:title>Crypto Fraud Desk.pptx</dc:title>
</cp:coreProperties>
</file>